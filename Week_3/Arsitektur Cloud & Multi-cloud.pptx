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14.xml" ContentType="application/vnd.openxmlformats-officedocument.presentationml.slide+xml"/>
  <ns0:Override PartName="/ppt/slides/slide15.xml" ContentType="application/vnd.openxmlformats-officedocument.presentationml.slide+xml"/>
  <ns0:Override PartName="/ppt/slides/slide16.xml" ContentType="application/vnd.openxmlformats-officedocument.presentationml.slide+xml"/>
  <ns0:Override PartName="/ppt/slides/slide17.xml" ContentType="application/vnd.openxmlformats-officedocument.presentationml.slide+xml"/>
  <ns0:Override PartName="/ppt/slides/slide18.xml" ContentType="application/vnd.openxmlformats-officedocument.presentationml.slide+xml"/>
  <ns0:Override PartName="/ppt/slides/slide19.xml" ContentType="application/vnd.openxmlformats-officedocument.presentationml.slide+xml"/>
  <ns0:Override PartName="/ppt/slides/slide2.xml" ContentType="application/vnd.openxmlformats-officedocument.presentationml.slide+xml"/>
  <ns0:Override PartName="/ppt/slides/slide20.xml" ContentType="application/vnd.openxmlformats-officedocument.presentationml.slide+xml"/>
  <ns0:Override PartName="/ppt/slides/slide21.xml" ContentType="application/vnd.openxmlformats-officedocument.presentationml.slide+xml"/>
  <ns0:Override PartName="/ppt/slides/slide22.xml" ContentType="application/vnd.openxmlformats-officedocument.presentationml.slide+xml"/>
  <ns0:Override PartName="/ppt/slides/slide23.xml" ContentType="application/vnd.openxmlformats-officedocument.presentationml.slide+xml"/>
  <ns0:Override PartName="/ppt/slides/slide24.xml" ContentType="application/vnd.openxmlformats-officedocument.presentationml.slide+xml"/>
  <ns0:Override PartName="/ppt/slides/slide25.xml" ContentType="application/vnd.openxmlformats-officedocument.presentationml.slide+xml"/>
  <ns0:Override PartName="/ppt/slides/slide26.xml" ContentType="application/vnd.openxmlformats-officedocument.presentationml.slide+xml"/>
  <ns0:Override PartName="/ppt/slides/slide27.xml" ContentType="application/vnd.openxmlformats-officedocument.presentationml.slide+xml"/>
  <ns0:Override PartName="/ppt/slides/slide28.xml" ContentType="application/vnd.openxmlformats-officedocument.presentationml.slide+xml"/>
  <ns0:Override PartName="/ppt/slides/slide29.xml" ContentType="application/vnd.openxmlformats-officedocument.presentationml.slide+xml"/>
  <ns0:Override PartName="/ppt/slides/slide3.xml" ContentType="application/vnd.openxmlformats-officedocument.presentationml.slide+xml"/>
  <ns0:Override PartName="/ppt/slides/slide30.xml" ContentType="application/vnd.openxmlformats-officedocument.presentationml.slide+xml"/>
  <ns0:Override PartName="/ppt/slides/slide31.xml" ContentType="application/vnd.openxmlformats-officedocument.presentationml.slide+xml"/>
  <ns0:Override PartName="/ppt/slides/slide32.xml" ContentType="application/vnd.openxmlformats-officedocument.presentationml.slide+xml"/>
  <ns0:Override PartName="/ppt/slides/slide33.xml" ContentType="application/vnd.openxmlformats-officedocument.presentationml.slide+xml"/>
  <ns0:Override PartName="/ppt/slides/slide34.xml" ContentType="application/vnd.openxmlformats-officedocument.presentationml.slide+xml"/>
  <ns0:Override PartName="/ppt/slides/slide35.xml" ContentType="application/vnd.openxmlformats-officedocument.presentationml.slide+xml"/>
  <ns0:Override PartName="/ppt/slides/slide36.xml" ContentType="application/vnd.openxmlformats-officedocument.presentationml.slide+xml"/>
  <ns0:Override PartName="/ppt/slides/slide37.xml" ContentType="application/vnd.openxmlformats-officedocument.presentationml.slide+xml"/>
  <ns0:Override PartName="/ppt/slides/slide38.xml" ContentType="application/vnd.openxmlformats-officedocument.presentationml.slide+xml"/>
  <ns0:Override PartName="/ppt/slides/slide39.xml" ContentType="application/vnd.openxmlformats-officedocument.presentationml.slide+xml"/>
  <ns0:Override PartName="/ppt/slides/slide4.xml" ContentType="application/vnd.openxmlformats-officedocument.presentationml.slide+xml"/>
  <ns0:Override PartName="/ppt/slides/slide40.xml" ContentType="application/vnd.openxmlformats-officedocument.presentationml.slide+xml"/>
  <ns0:Override PartName="/ppt/slides/slide41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  <ns0:sldId id="268" ns1:id="rId19"/>
    <ns0:sldId id="269" ns1:id="rId20"/>
    <ns0:sldId id="270" ns1:id="rId21"/>
    <ns0:sldId id="271" ns1:id="rId22"/>
    <ns0:sldId id="272" ns1:id="rId23"/>
    <ns0:sldId id="273" ns1:id="rId24"/>
    <ns0:sldId id="274" ns1:id="rId25"/>
    <ns0:sldId id="275" ns1:id="rId26"/>
    <ns0:sldId id="276" ns1:id="rId27"/>
    <ns0:sldId id="277" ns1:id="rId28"/>
    <ns0:sldId id="278" ns1:id="rId29"/>
    <ns0:sldId id="279" ns1:id="rId30"/>
    <ns0:sldId id="280" ns1:id="rId31"/>
    <ns0:sldId id="281" ns1:id="rId32"/>
    <ns0:sldId id="282" ns1:id="rId33"/>
    <ns0:sldId id="283" ns1:id="rId34"/>
    <ns0:sldId id="284" ns1:id="rId35"/>
    <ns0:sldId id="285" ns1:id="rId36"/>
    <ns0:sldId id="286" ns1:id="rId37"/>
    <ns0:sldId id="287" ns1:id="rId38"/>
    <ns0:sldId id="288" ns1:id="rId39"/>
    <ns0:sldId id="289" ns1:id="rId40"/>
    <ns0:sldId id="290" ns1:id="rId41"/>
    <ns0:sldId id="291" ns1:id="rId42"/>
    <ns0:sldId id="292" ns1:id="rId43"/>
    <ns0:sldId id="293" ns1:id="rId44"/>
    <ns0:sldId id="294" ns1:id="rId45"/>
    <ns0:sldId id="295" ns1:id="rId46"/>
    <ns0:sldId id="296" ns1:id="rId47"/>
  </ns0:sldIdLst>
  <ns0:sldSz cx="12192000" cy="6858000" type="screen4x3"/>
  <ns0:notesSz cx="6858000" cy="9144000"/>
  <ns0:embeddedFontLst>
    <ns0:embeddedFont>
      <ns0:font typeface="Inter"/>
      <ns0:bold ns1:id="rIdFont48"/>
      <ns0:regular ns1:id="rIdFont49"/>
    </ns0:embeddedFont>
    <ns0:embeddedFont>
      <ns0:font typeface="Plus Jakarta Sans"/>
      <ns0:bold ns1:id="rIdFont50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19" Type="http://schemas.openxmlformats.org/officeDocument/2006/relationships/slide" Target="slides/slide13.xml" /><ns0:Relationship Id="rId20" Type="http://schemas.openxmlformats.org/officeDocument/2006/relationships/slide" Target="slides/slide14.xml" /><ns0:Relationship Id="rId21" Type="http://schemas.openxmlformats.org/officeDocument/2006/relationships/slide" Target="slides/slide15.xml" /><ns0:Relationship Id="rId22" Type="http://schemas.openxmlformats.org/officeDocument/2006/relationships/slide" Target="slides/slide16.xml" /><ns0:Relationship Id="rId23" Type="http://schemas.openxmlformats.org/officeDocument/2006/relationships/slide" Target="slides/slide17.xml" /><ns0:Relationship Id="rId24" Type="http://schemas.openxmlformats.org/officeDocument/2006/relationships/slide" Target="slides/slide18.xml" /><ns0:Relationship Id="rId25" Type="http://schemas.openxmlformats.org/officeDocument/2006/relationships/slide" Target="slides/slide19.xml" /><ns0:Relationship Id="rId26" Type="http://schemas.openxmlformats.org/officeDocument/2006/relationships/slide" Target="slides/slide20.xml" /><ns0:Relationship Id="rId27" Type="http://schemas.openxmlformats.org/officeDocument/2006/relationships/slide" Target="slides/slide21.xml" /><ns0:Relationship Id="rId28" Type="http://schemas.openxmlformats.org/officeDocument/2006/relationships/slide" Target="slides/slide22.xml" /><ns0:Relationship Id="rId29" Type="http://schemas.openxmlformats.org/officeDocument/2006/relationships/slide" Target="slides/slide23.xml" /><ns0:Relationship Id="rId30" Type="http://schemas.openxmlformats.org/officeDocument/2006/relationships/slide" Target="slides/slide24.xml" /><ns0:Relationship Id="rId31" Type="http://schemas.openxmlformats.org/officeDocument/2006/relationships/slide" Target="slides/slide25.xml" /><ns0:Relationship Id="rId32" Type="http://schemas.openxmlformats.org/officeDocument/2006/relationships/slide" Target="slides/slide26.xml" /><ns0:Relationship Id="rId33" Type="http://schemas.openxmlformats.org/officeDocument/2006/relationships/slide" Target="slides/slide27.xml" /><ns0:Relationship Id="rId34" Type="http://schemas.openxmlformats.org/officeDocument/2006/relationships/slide" Target="slides/slide28.xml" /><ns0:Relationship Id="rId35" Type="http://schemas.openxmlformats.org/officeDocument/2006/relationships/slide" Target="slides/slide29.xml" /><ns0:Relationship Id="rId36" Type="http://schemas.openxmlformats.org/officeDocument/2006/relationships/slide" Target="slides/slide30.xml" /><ns0:Relationship Id="rId37" Type="http://schemas.openxmlformats.org/officeDocument/2006/relationships/slide" Target="slides/slide31.xml" /><ns0:Relationship Id="rId38" Type="http://schemas.openxmlformats.org/officeDocument/2006/relationships/slide" Target="slides/slide32.xml" /><ns0:Relationship Id="rId39" Type="http://schemas.openxmlformats.org/officeDocument/2006/relationships/slide" Target="slides/slide33.xml" /><ns0:Relationship Id="rId40" Type="http://schemas.openxmlformats.org/officeDocument/2006/relationships/slide" Target="slides/slide34.xml" /><ns0:Relationship Id="rId41" Type="http://schemas.openxmlformats.org/officeDocument/2006/relationships/slide" Target="slides/slide35.xml" /><ns0:Relationship Id="rId42" Type="http://schemas.openxmlformats.org/officeDocument/2006/relationships/slide" Target="slides/slide36.xml" /><ns0:Relationship Id="rId43" Type="http://schemas.openxmlformats.org/officeDocument/2006/relationships/slide" Target="slides/slide37.xml" /><ns0:Relationship Id="rId44" Type="http://schemas.openxmlformats.org/officeDocument/2006/relationships/slide" Target="slides/slide38.xml" /><ns0:Relationship Id="rId45" Type="http://schemas.openxmlformats.org/officeDocument/2006/relationships/slide" Target="slides/slide39.xml" /><ns0:Relationship Id="rId46" Type="http://schemas.openxmlformats.org/officeDocument/2006/relationships/slide" Target="slides/slide40.xml" /><ns0:Relationship Id="rId47" Type="http://schemas.openxmlformats.org/officeDocument/2006/relationships/slide" Target="slides/slide41.xml" /><ns0:Relationship Id="rIdFont48" Type="http://schemas.openxmlformats.org/officeDocument/2006/relationships/font" Target="fonts/c0f04876-0de6-4c0f-aac3-8c6397af769c.fntdata" /><ns0:Relationship Id="rIdFont49" Type="http://schemas.openxmlformats.org/officeDocument/2006/relationships/font" Target="fonts/5cbdb97b-7ba7-4b0d-b4dd-f2d875679168.fntdata" /><ns0:Relationship Id="rIdFont50" Type="http://schemas.openxmlformats.org/officeDocument/2006/relationships/font" Target="fonts/2fa97890-56ca-4da3-ad7c-be76211bb05e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Relationship Id="rId7" Type="http://schemas.openxmlformats.org/officeDocument/2006/relationships/image" Target="../media/image3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image" Target="../media/image3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image" Target="../media/image44.png"/><Relationship Id="rId4" Type="http://schemas.openxmlformats.org/officeDocument/2006/relationships/image" Target="../media/image45.png"/><Relationship Id="rId5" Type="http://schemas.openxmlformats.org/officeDocument/2006/relationships/image" Target="../media/image46.png"/><Relationship Id="rId6" Type="http://schemas.openxmlformats.org/officeDocument/2006/relationships/image" Target="../media/image47.png"/><Relationship Id="rId7" Type="http://schemas.openxmlformats.org/officeDocument/2006/relationships/image" Target="../media/image4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openxmlformats.org/officeDocument/2006/relationships/image" Target="../media/image5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Relationship Id="rId3" Type="http://schemas.openxmlformats.org/officeDocument/2006/relationships/image" Target="../media/image53.png"/><Relationship Id="rId4" Type="http://schemas.openxmlformats.org/officeDocument/2006/relationships/image" Target="../media/image5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Relationship Id="rId3" Type="http://schemas.openxmlformats.org/officeDocument/2006/relationships/image" Target="../media/image56.png"/><Relationship Id="rId4" Type="http://schemas.openxmlformats.org/officeDocument/2006/relationships/image" Target="../media/image57.png"/><Relationship Id="rId5" Type="http://schemas.openxmlformats.org/officeDocument/2006/relationships/image" Target="../media/image58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61.png"/><Relationship Id="rId4" Type="http://schemas.openxmlformats.org/officeDocument/2006/relationships/image" Target="../media/image62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png"/><Relationship Id="rId3" Type="http://schemas.openxmlformats.org/officeDocument/2006/relationships/image" Target="../media/image64.png"/><Relationship Id="rId4" Type="http://schemas.openxmlformats.org/officeDocument/2006/relationships/image" Target="../media/image65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png"/><Relationship Id="rId3" Type="http://schemas.openxmlformats.org/officeDocument/2006/relationships/image" Target="../media/image67.png"/><Relationship Id="rId4" Type="http://schemas.openxmlformats.org/officeDocument/2006/relationships/image" Target="../media/image68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9.png"/><Relationship Id="rId3" Type="http://schemas.openxmlformats.org/officeDocument/2006/relationships/image" Target="../media/image70.png"/><Relationship Id="rId4" Type="http://schemas.openxmlformats.org/officeDocument/2006/relationships/image" Target="../media/image7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Relationship Id="rId3" Type="http://schemas.openxmlformats.org/officeDocument/2006/relationships/image" Target="../media/image72.png"/><Relationship Id="rId4" Type="http://schemas.openxmlformats.org/officeDocument/2006/relationships/image" Target="../media/image73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4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5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6.png"/><Relationship Id="rId3" Type="http://schemas.openxmlformats.org/officeDocument/2006/relationships/image" Target="../media/image77.png"/><Relationship Id="rId4" Type="http://schemas.openxmlformats.org/officeDocument/2006/relationships/image" Target="../media/image78.png"/><Relationship Id="rId5" Type="http://schemas.openxmlformats.org/officeDocument/2006/relationships/image" Target="../media/image79.png"/><Relationship Id="rId6" Type="http://schemas.openxmlformats.org/officeDocument/2006/relationships/image" Target="../media/image80.png"/><Relationship Id="rId7" Type="http://schemas.openxmlformats.org/officeDocument/2006/relationships/image" Target="../media/image8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91200" y="4737645"/>
            <a:ext cx="609600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8187" y="2082254"/>
            <a:ext cx="1071562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60A5FA"/>
                </a:solidFill>
                <a:latin typeface="Inter"/>
              </a:rPr>
              <a:t>ANALISIS INFRASTRUKTUR 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0296" y="2425154"/>
            <a:ext cx="11251406" cy="13409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280"/>
              </a:lnSpc>
            </a:pPr>
            <a:r>
              <a:rPr b="1" sz="4800" i="0" u="none">
                <a:solidFill>
                  <a:srgbClr val="F8FAFC"/>
                </a:solidFill>
                <a:latin typeface="Plus Jakarta Sans"/>
              </a:rPr>
              <a:t>Ekosistem Cloud &amp; Arsitektur Multi-cloud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8187" y="3994695"/>
            <a:ext cx="10715625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Inter"/>
              </a:rPr>
              <a:t>Evaluasi komprehensif model deployment, strategi arsitektur, dan keseimbangan operasional.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2419498"/>
            <a:ext cx="2419350" cy="2872382"/>
          </a:xfrm>
          <a:prstGeom prst="roundRect">
            <a:avLst>
              <a:gd name="adj" fmla="val 629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562350" y="2562373"/>
            <a:ext cx="2419350" cy="2586632"/>
          </a:xfrm>
          <a:prstGeom prst="roundRect">
            <a:avLst>
              <a:gd name="adj" fmla="val 629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0300" y="2419498"/>
            <a:ext cx="2419350" cy="2872382"/>
          </a:xfrm>
          <a:prstGeom prst="roundRect">
            <a:avLst>
              <a:gd name="adj" fmla="val 629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858250" y="2562373"/>
            <a:ext cx="2419350" cy="2586632"/>
          </a:xfrm>
          <a:prstGeom prst="roundRect">
            <a:avLst>
              <a:gd name="adj" fmla="val 629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725" y="2733823"/>
            <a:ext cx="609600" cy="609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6675" y="2876698"/>
            <a:ext cx="609600" cy="609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4625" y="2733823"/>
            <a:ext cx="609600" cy="6096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2575" y="2876698"/>
            <a:ext cx="609600" cy="6096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0175" y="2905273"/>
            <a:ext cx="266700" cy="2667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14787" y="3048148"/>
            <a:ext cx="333375" cy="2667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2737" y="2905273"/>
            <a:ext cx="333375" cy="2667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44025" y="3048148"/>
            <a:ext cx="266700" cy="2667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14400" y="609600"/>
            <a:ext cx="11277600" cy="548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0F172A"/>
                </a:solidFill>
                <a:latin typeface="Plus Jakarta Sans"/>
              </a:rPr>
              <a:t>Agenda Pembahasan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28725" y="3572023"/>
            <a:ext cx="1980247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Plus Jakarta Sans"/>
              </a:rPr>
              <a:t>01. Model Cloud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28725" y="4257823"/>
            <a:ext cx="1885950" cy="719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Eksplorasi Public, Private, Hybrid, &amp; Community.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76675" y="3714898"/>
            <a:ext cx="2350293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Plus Jakarta Sans"/>
              </a:rPr>
              <a:t>02. Multi-cloud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76675" y="4114948"/>
            <a:ext cx="1885950" cy="719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Pola arsitektur dan orkestrasi lintas penyedia.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24625" y="3572023"/>
            <a:ext cx="1980247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Plus Jakarta Sans"/>
              </a:rPr>
              <a:t>03. Analisis Trade-off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4625" y="4257823"/>
            <a:ext cx="1885950" cy="719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Spektrum biaya versus kontrol infrastruktur.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72575" y="3714898"/>
            <a:ext cx="2350293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Plus Jakarta Sans"/>
              </a:rPr>
              <a:t>04. Studi Kasus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72575" y="4114948"/>
            <a:ext cx="1885950" cy="719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Penerapan komprehensif pada sektor FinTech.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4030860"/>
            <a:ext cx="4572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88890"/>
            <a:ext cx="112776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2563EB"/>
                </a:solidFill>
                <a:latin typeface="Inter"/>
              </a:rPr>
              <a:t>BAGIAN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131790"/>
            <a:ext cx="11277600" cy="6704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b="1" sz="4800" i="0" u="none">
                <a:solidFill>
                  <a:srgbClr val="000000"/>
                </a:solidFill>
                <a:latin typeface="Plus Jakarta Sans"/>
              </a:rPr>
              <a:t>Eksplorasi Model Cloud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600" y="1462980"/>
            <a:ext cx="4953000" cy="49911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891855"/>
            <a:ext cx="228600" cy="2286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634805"/>
            <a:ext cx="228600" cy="228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609600"/>
            <a:ext cx="11277600" cy="548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0F172A"/>
                </a:solidFill>
                <a:latin typeface="Plus Jakarta Sans"/>
              </a:rPr>
              <a:t>Public Cloud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86955"/>
            <a:ext cx="504825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475569"/>
                </a:solidFill>
                <a:latin typeface="Inter"/>
              </a:rPr>
              <a:t>Layanan komputasi melalui internet publik. Infrastruktur fisik dimiliki dan dioperasikan sepenuhnya oleh penyedia pihak ketiga.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5400" y="3872805"/>
            <a:ext cx="3774281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1" sz="1500" i="0" u="none">
                <a:solidFill>
                  <a:srgbClr val="475569"/>
                </a:solidFill>
                <a:latin typeface="Inter"/>
              </a:rPr>
              <a:t>Aksesibilitas:</a:t>
            </a:r>
            <a:r>
              <a:rPr b="0" sz="1500" i="0" u="none">
                <a:solidFill>
                  <a:srgbClr val="475569"/>
                </a:solidFill>
                <a:latin typeface="Inter"/>
              </a:rPr>
              <a:t> Global via internet.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5400" y="4615755"/>
            <a:ext cx="4714875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1" sz="1500" i="0" u="none">
                <a:solidFill>
                  <a:srgbClr val="475569"/>
                </a:solidFill>
                <a:latin typeface="Inter"/>
              </a:rPr>
              <a:t>Kepemilikan:</a:t>
            </a:r>
            <a:r>
              <a:rPr b="0" sz="1500" i="0" u="none">
                <a:solidFill>
                  <a:srgbClr val="475569"/>
                </a:solidFill>
                <a:latin typeface="Inter"/>
              </a:rPr>
              <a:t> Vendor (AWS, GCP, Azure).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3149054"/>
            <a:ext cx="3251150" cy="2060971"/>
          </a:xfrm>
          <a:prstGeom prst="roundRect">
            <a:avLst>
              <a:gd name="adj" fmla="val 739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470350" y="3149054"/>
            <a:ext cx="3251150" cy="2060971"/>
          </a:xfrm>
          <a:prstGeom prst="roundRect">
            <a:avLst>
              <a:gd name="adj" fmla="val 739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26300" y="3149054"/>
            <a:ext cx="3251299" cy="2060971"/>
          </a:xfrm>
          <a:prstGeom prst="roundRect">
            <a:avLst>
              <a:gd name="adj" fmla="val 739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3213" y="3453854"/>
            <a:ext cx="333375" cy="381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1538" y="3453854"/>
            <a:ext cx="428625" cy="381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3825" y="3453854"/>
            <a:ext cx="476250" cy="381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771987" y="1647973"/>
            <a:ext cx="2648024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2563EB"/>
                </a:solidFill>
                <a:latin typeface="Inter"/>
              </a:rPr>
              <a:t>KARAKTERISTIK UTAMA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83035" y="1990873"/>
            <a:ext cx="7425928" cy="548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b="1" sz="3600" i="0" u="none">
                <a:solidFill>
                  <a:srgbClr val="0F172A"/>
                </a:solidFill>
                <a:latin typeface="Plus Jakarta Sans"/>
              </a:rPr>
              <a:t>Nilai Tambah Public Cloud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71042" y="4025354"/>
            <a:ext cx="1737717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0F172A"/>
                </a:solidFill>
                <a:latin typeface="Plus Jakarta Sans"/>
              </a:rPr>
              <a:t>Skala Instan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9006" y="4425404"/>
            <a:ext cx="3301937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Kapasitas elastis sesuai permintaan lalu lintas.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51983" y="4025354"/>
            <a:ext cx="1887735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0F172A"/>
                </a:solidFill>
                <a:latin typeface="Plus Jakarta Sans"/>
              </a:rPr>
              <a:t>Tanpa Capex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44956" y="4425404"/>
            <a:ext cx="3301937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Model pembayaran pay-as-you-go murni.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70540" y="4025354"/>
            <a:ext cx="256282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0F172A"/>
                </a:solidFill>
                <a:latin typeface="Plus Jakarta Sans"/>
              </a:rPr>
              <a:t>Bebas Perawatan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0888" y="4425404"/>
            <a:ext cx="3302124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Pembaruan perangkat keras dikelola vendor.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600" y="2979390"/>
            <a:ext cx="4953000" cy="17526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1037" y="3284190"/>
            <a:ext cx="1000125" cy="1143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789015"/>
            <a:ext cx="228600" cy="2286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531965"/>
            <a:ext cx="228600" cy="228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609600"/>
            <a:ext cx="11277600" cy="548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0F172A"/>
                </a:solidFill>
                <a:latin typeface="Plus Jakarta Sans"/>
              </a:rPr>
              <a:t>Private Cloud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84115"/>
            <a:ext cx="504825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475569"/>
                </a:solidFill>
                <a:latin typeface="Inter"/>
              </a:rPr>
              <a:t>Infrastruktur komputasi eksklusif untuk satu organisasi. Isolasi jaringan dilakukan secara fisik dan logis.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5400" y="3769965"/>
            <a:ext cx="4131468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1" sz="1500" i="0" u="none">
                <a:solidFill>
                  <a:srgbClr val="475569"/>
                </a:solidFill>
                <a:latin typeface="Inter"/>
              </a:rPr>
              <a:t>Lokasi:</a:t>
            </a:r>
            <a:r>
              <a:rPr b="0" sz="1500" i="0" u="none">
                <a:solidFill>
                  <a:srgbClr val="475569"/>
                </a:solidFill>
                <a:latin typeface="Inter"/>
              </a:rPr>
              <a:t> On-premise atau colocation.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5400" y="4512915"/>
            <a:ext cx="4464843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1" sz="1500" i="0" u="none">
                <a:solidFill>
                  <a:srgbClr val="475569"/>
                </a:solidFill>
                <a:latin typeface="Inter"/>
              </a:rPr>
              <a:t>Jaringan:</a:t>
            </a:r>
            <a:r>
              <a:rPr b="0" sz="1500" i="0" u="none">
                <a:solidFill>
                  <a:srgbClr val="475569"/>
                </a:solidFill>
                <a:latin typeface="Inter"/>
              </a:rPr>
              <a:t> Akses tertutup via VPN/LAN.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3149054"/>
            <a:ext cx="3251150" cy="2060971"/>
          </a:xfrm>
          <a:prstGeom prst="roundRect">
            <a:avLst>
              <a:gd name="adj" fmla="val 739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470350" y="3149054"/>
            <a:ext cx="3251150" cy="2060971"/>
          </a:xfrm>
          <a:prstGeom prst="roundRect">
            <a:avLst>
              <a:gd name="adj" fmla="val 739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26300" y="3149054"/>
            <a:ext cx="3251299" cy="2060971"/>
          </a:xfrm>
          <a:prstGeom prst="roundRect">
            <a:avLst>
              <a:gd name="adj" fmla="val 739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9400" y="3453854"/>
            <a:ext cx="381000" cy="381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7726" y="3453854"/>
            <a:ext cx="476250" cy="381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1450" y="3453854"/>
            <a:ext cx="381000" cy="381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771987" y="1647973"/>
            <a:ext cx="2648024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2563EB"/>
                </a:solidFill>
                <a:latin typeface="Inter"/>
              </a:rPr>
              <a:t>KARAKTERISTIK UTAMA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58020" y="1990873"/>
            <a:ext cx="7675959" cy="548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b="1" sz="3600" i="0" u="none">
                <a:solidFill>
                  <a:srgbClr val="0F172A"/>
                </a:solidFill>
                <a:latin typeface="Plus Jakarta Sans"/>
              </a:rPr>
              <a:t>Nilai Tambah Private Cloud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14772" y="4025354"/>
            <a:ext cx="2050256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0F172A"/>
                </a:solidFill>
                <a:latin typeface="Plus Jakarta Sans"/>
              </a:rPr>
              <a:t>Kontrol Penuh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9006" y="4425404"/>
            <a:ext cx="3301937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Otoritas total atas arsitektur perangkat keras.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0666" y="4025354"/>
            <a:ext cx="2950368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0F172A"/>
                </a:solidFill>
                <a:latin typeface="Plus Jakarta Sans"/>
              </a:rPr>
              <a:t>Keamanan Maksimal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44956" y="4425404"/>
            <a:ext cx="3301937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Isolasi data dari ancaman eksternal.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20546" y="4025354"/>
            <a:ext cx="2462807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0F172A"/>
                </a:solidFill>
                <a:latin typeface="Plus Jakarta Sans"/>
              </a:rPr>
              <a:t>Performa Khusus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0888" y="4425404"/>
            <a:ext cx="3302124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Latensi rendah untuk aplikasi internal kritis.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600" y="3236565"/>
            <a:ext cx="2133600" cy="12382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0600" y="3703290"/>
            <a:ext cx="381000" cy="3048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3236565"/>
            <a:ext cx="2133600" cy="12382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789015"/>
            <a:ext cx="228600" cy="2286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531965"/>
            <a:ext cx="228600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24700" y="3550890"/>
            <a:ext cx="533400" cy="609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29800" y="3550890"/>
            <a:ext cx="762000" cy="609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609600"/>
            <a:ext cx="11277600" cy="548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0F172A"/>
                </a:solidFill>
                <a:latin typeface="Plus Jakarta Sans"/>
              </a:rPr>
              <a:t>Hybrid Cloud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684115"/>
            <a:ext cx="504825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475569"/>
                </a:solidFill>
                <a:latin typeface="Inter"/>
              </a:rPr>
              <a:t>Lingkungan komputasi gabungan. Menghubungkan infrastruktur private cloud tertutup dengan layanan public cloud.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5400" y="3769965"/>
            <a:ext cx="4048125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1" sz="1500" i="0" u="none">
                <a:solidFill>
                  <a:srgbClr val="475569"/>
                </a:solidFill>
                <a:latin typeface="Inter"/>
              </a:rPr>
              <a:t>Integrasi:</a:t>
            </a:r>
            <a:r>
              <a:rPr b="0" sz="1500" i="0" u="none">
                <a:solidFill>
                  <a:srgbClr val="475569"/>
                </a:solidFill>
                <a:latin typeface="Inter"/>
              </a:rPr>
              <a:t> Orkestrasi data dua arah.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5400" y="4512915"/>
            <a:ext cx="4798218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1" sz="1500" i="0" u="none">
                <a:solidFill>
                  <a:srgbClr val="475569"/>
                </a:solidFill>
                <a:latin typeface="Inter"/>
              </a:rPr>
              <a:t>Mobilitas:</a:t>
            </a:r>
            <a:r>
              <a:rPr b="0" sz="1500" i="0" u="none">
                <a:solidFill>
                  <a:srgbClr val="475569"/>
                </a:solidFill>
                <a:latin typeface="Inter"/>
              </a:rPr>
              <a:t> Beban kerja berpindah dinamis.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3149054"/>
            <a:ext cx="3251150" cy="2060971"/>
          </a:xfrm>
          <a:prstGeom prst="roundRect">
            <a:avLst>
              <a:gd name="adj" fmla="val 739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470350" y="3149054"/>
            <a:ext cx="3251150" cy="2060971"/>
          </a:xfrm>
          <a:prstGeom prst="roundRect">
            <a:avLst>
              <a:gd name="adj" fmla="val 739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26300" y="3149054"/>
            <a:ext cx="3251299" cy="2060971"/>
          </a:xfrm>
          <a:prstGeom prst="roundRect">
            <a:avLst>
              <a:gd name="adj" fmla="val 739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9400" y="3453854"/>
            <a:ext cx="381000" cy="381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1538" y="3453854"/>
            <a:ext cx="428625" cy="381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3825" y="3453854"/>
            <a:ext cx="476250" cy="381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771987" y="1647973"/>
            <a:ext cx="2648024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2563EB"/>
                </a:solidFill>
                <a:latin typeface="Inter"/>
              </a:rPr>
              <a:t>KARAKTERISTIK UTAMA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01775" y="1990873"/>
            <a:ext cx="7588448" cy="548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b="1" sz="3600" i="0" u="none">
                <a:solidFill>
                  <a:srgbClr val="0F172A"/>
                </a:solidFill>
                <a:latin typeface="Plus Jakarta Sans"/>
              </a:rPr>
              <a:t>Nilai Tambah Hybrid Cloud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3481" y="4025354"/>
            <a:ext cx="2712839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0F172A"/>
                </a:solidFill>
                <a:latin typeface="Plus Jakarta Sans"/>
              </a:rPr>
              <a:t>Fleksibilitas Beban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9006" y="4425404"/>
            <a:ext cx="3301937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Cloud bursting saat lonjakan trafik tajam.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26930" y="4025354"/>
            <a:ext cx="2737842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0F172A"/>
                </a:solidFill>
                <a:latin typeface="Plus Jakarta Sans"/>
              </a:rPr>
              <a:t>Keamanan Selektif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44956" y="4425404"/>
            <a:ext cx="3301937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Data sensitif tetap di server on-premise.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51812" y="4025354"/>
            <a:ext cx="2200275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0F172A"/>
                </a:solidFill>
                <a:latin typeface="Plus Jakarta Sans"/>
              </a:rPr>
              <a:t>Optimasi Biaya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0888" y="4425404"/>
            <a:ext cx="3302124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Membayar kapasitas ekstra hanya saat perlu.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600" y="2087760"/>
            <a:ext cx="2400300" cy="10668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7300" y="2087760"/>
            <a:ext cx="2400300" cy="10668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600" y="4556670"/>
            <a:ext cx="2400300" cy="10668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77300" y="4556670"/>
            <a:ext cx="2400300" cy="10668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3789015"/>
            <a:ext cx="285750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4531965"/>
            <a:ext cx="285750" cy="228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9400" y="2392560"/>
            <a:ext cx="1790700" cy="4572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82100" y="2392560"/>
            <a:ext cx="1790700" cy="4572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9400" y="4861470"/>
            <a:ext cx="1790700" cy="4572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82100" y="4861470"/>
            <a:ext cx="1790700" cy="4572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14400" y="609600"/>
            <a:ext cx="11277600" cy="548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0F172A"/>
                </a:solidFill>
                <a:latin typeface="Plus Jakarta Sans"/>
              </a:rPr>
              <a:t>Community Cloud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684115"/>
            <a:ext cx="504825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475569"/>
                </a:solidFill>
                <a:latin typeface="Inter"/>
              </a:rPr>
              <a:t>Infrastruktur komputasi yang digunakan bersama oleh beberapa organisasi dengan perhatian atau regulasi sejenis.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52550" y="3769965"/>
            <a:ext cx="4393406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1" sz="1500" i="0" u="none">
                <a:solidFill>
                  <a:srgbClr val="475569"/>
                </a:solidFill>
                <a:latin typeface="Inter"/>
              </a:rPr>
              <a:t>Partisipan:</a:t>
            </a:r>
            <a:r>
              <a:rPr b="0" sz="1500" i="0" u="none">
                <a:solidFill>
                  <a:srgbClr val="475569"/>
                </a:solidFill>
                <a:latin typeface="Inter"/>
              </a:rPr>
              <a:t> Kelompok industri spesifik.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2550" y="4512915"/>
            <a:ext cx="4155281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1" sz="1500" i="0" u="none">
                <a:solidFill>
                  <a:srgbClr val="475569"/>
                </a:solidFill>
                <a:latin typeface="Inter"/>
              </a:rPr>
              <a:t>Fokus:</a:t>
            </a:r>
            <a:r>
              <a:rPr b="0" sz="1500" i="0" u="none">
                <a:solidFill>
                  <a:srgbClr val="475569"/>
                </a:solidFill>
                <a:latin typeface="Inter"/>
              </a:rPr>
              <a:t> Kepatuhan regulasi bersama.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3149054"/>
            <a:ext cx="3251150" cy="2060971"/>
          </a:xfrm>
          <a:prstGeom prst="roundRect">
            <a:avLst>
              <a:gd name="adj" fmla="val 739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470350" y="3149054"/>
            <a:ext cx="3251150" cy="2060971"/>
          </a:xfrm>
          <a:prstGeom prst="roundRect">
            <a:avLst>
              <a:gd name="adj" fmla="val 739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26300" y="3149054"/>
            <a:ext cx="3251299" cy="2060971"/>
          </a:xfrm>
          <a:prstGeom prst="roundRect">
            <a:avLst>
              <a:gd name="adj" fmla="val 739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1775" y="3453854"/>
            <a:ext cx="476250" cy="381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5351" y="3453854"/>
            <a:ext cx="381000" cy="381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3825" y="3453854"/>
            <a:ext cx="476250" cy="381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771987" y="1647973"/>
            <a:ext cx="2648024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2563EB"/>
                </a:solidFill>
                <a:latin typeface="Inter"/>
              </a:rPr>
              <a:t>KARAKTERISTIK UTAMA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82935" y="1990873"/>
            <a:ext cx="9026128" cy="548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b="1" sz="3600" i="0" u="none">
                <a:solidFill>
                  <a:srgbClr val="0F172A"/>
                </a:solidFill>
                <a:latin typeface="Plus Jakarta Sans"/>
              </a:rPr>
              <a:t>Nilai Tambah Community Cloud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4760" y="4025354"/>
            <a:ext cx="2250281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0F172A"/>
                </a:solidFill>
                <a:latin typeface="Plus Jakarta Sans"/>
              </a:rPr>
              <a:t>Biaya Patungan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9006" y="4425404"/>
            <a:ext cx="3301937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Pembagian biaya operasional secara kolektif.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26930" y="4025354"/>
            <a:ext cx="2737842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0F172A"/>
                </a:solidFill>
                <a:latin typeface="Plus Jakarta Sans"/>
              </a:rPr>
              <a:t>Kepatuhan Industri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44956" y="4425404"/>
            <a:ext cx="3301937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Standar keamanan sesuai regulasi sektor.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26797" y="4025354"/>
            <a:ext cx="2450306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0F172A"/>
                </a:solidFill>
                <a:latin typeface="Plus Jakarta Sans"/>
              </a:rPr>
              <a:t>Kolaborasi Aman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0888" y="4425404"/>
            <a:ext cx="3302124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Integrasi data antar entitas terpercaya.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301180"/>
            <a:ext cx="2059930" cy="190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74330" y="2301180"/>
            <a:ext cx="2388542" cy="190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362872" y="2301180"/>
            <a:ext cx="2236886" cy="190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99759" y="2301180"/>
            <a:ext cx="3677840" cy="190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906017"/>
            <a:ext cx="205993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974330" y="2906017"/>
            <a:ext cx="238854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62872" y="2906017"/>
            <a:ext cx="223688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599759" y="2906017"/>
            <a:ext cx="367784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3496567"/>
            <a:ext cx="205993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974330" y="3496567"/>
            <a:ext cx="238854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62872" y="3496567"/>
            <a:ext cx="223688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599759" y="3496567"/>
            <a:ext cx="367784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4400" y="4087117"/>
            <a:ext cx="205993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74330" y="4087117"/>
            <a:ext cx="238854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362872" y="4087117"/>
            <a:ext cx="223688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599759" y="4087117"/>
            <a:ext cx="367784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4400" y="4677667"/>
            <a:ext cx="205993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974330" y="4677667"/>
            <a:ext cx="238854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362872" y="4677667"/>
            <a:ext cx="223688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599759" y="4677667"/>
            <a:ext cx="367784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914400" y="1691580"/>
          <a:ext cx="10363198" cy="3000375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059930"/>
                <a:gridCol w="2388542"/>
                <a:gridCol w="2236886"/>
                <a:gridCol w="3677840"/>
              </a:tblGrid>
              <a:tr h="600075"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Model Cloud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Tingkat Kontrol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Efisiensi Biaya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Target Pengguna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475569"/>
                          </a:solidFill>
                          <a:latin typeface="Inter"/>
                        </a:rPr>
                        <a:t>Public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Inter"/>
                        </a:rPr>
                        <a:t>Rendah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Inter"/>
                        </a:rPr>
                        <a:t>Sangat Tinggi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Inter"/>
                        </a:rPr>
                        <a:t>Publik / Startup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475569"/>
                          </a:solidFill>
                          <a:latin typeface="Inter"/>
                        </a:rPr>
                        <a:t>Private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Inter"/>
                        </a:rPr>
                        <a:t>Sangat Tinggi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Inter"/>
                        </a:rPr>
                        <a:t>Rendah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Inter"/>
                        </a:rPr>
                        <a:t>Korporasi Besar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475569"/>
                          </a:solidFill>
                          <a:latin typeface="Inter"/>
                        </a:rPr>
                        <a:t>Hybrid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Inter"/>
                        </a:rPr>
                        <a:t>Tinggi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Inter"/>
                        </a:rPr>
                        <a:t>Sedang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Inter"/>
                        </a:rPr>
                        <a:t>Perusahaan Skala Menengah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475569"/>
                          </a:solidFill>
                          <a:latin typeface="Inter"/>
                        </a:rPr>
                        <a:t>Community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Inter"/>
                        </a:rPr>
                        <a:t>Sedang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Inter"/>
                        </a:rPr>
                        <a:t>Tinggi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Inter"/>
                        </a:rPr>
                        <a:t>Institusi Sektoral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914400" y="609600"/>
            <a:ext cx="11277600" cy="548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0F172A"/>
                </a:solidFill>
                <a:latin typeface="Plus Jakarta Sans"/>
              </a:rPr>
              <a:t>Matriks Karakteristik Model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95587" y="1135409"/>
            <a:ext cx="6600825" cy="548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b="1" sz="3600" i="0" u="none">
                <a:solidFill>
                  <a:srgbClr val="0F172A"/>
                </a:solidFill>
                <a:latin typeface="Plus Jakarta Sans"/>
              </a:rPr>
              <a:t>Tren Ekosistem Saat Ini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33500" y="4236690"/>
            <a:ext cx="9525000" cy="148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900"/>
              </a:lnSpc>
            </a:pPr>
            <a:r>
              <a:rPr b="1" sz="3000" i="0" u="none">
                <a:solidFill>
                  <a:srgbClr val="0F172A"/>
                </a:solidFill>
                <a:latin typeface="Plus Jakarta Sans"/>
              </a:rPr>
              <a:t>Perusahaan global melaporkan penggunaan strategi komputasi multi-cloud.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67187" y="2445990"/>
            <a:ext cx="3857625" cy="1333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0500"/>
              </a:lnSpc>
            </a:pPr>
            <a:r>
              <a:rPr b="1" sz="10500" i="0" u="none">
                <a:solidFill>
                  <a:srgbClr val="0F172A"/>
                </a:solidFill>
                <a:latin typeface="Plus Jakarta Sans"/>
              </a:rPr>
              <a:t>89%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1691580"/>
            <a:ext cx="2419350" cy="2331243"/>
          </a:xfrm>
          <a:prstGeom prst="roundRect">
            <a:avLst>
              <a:gd name="adj" fmla="val 653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562350" y="1691580"/>
            <a:ext cx="2419350" cy="2331243"/>
          </a:xfrm>
          <a:prstGeom prst="roundRect">
            <a:avLst>
              <a:gd name="adj" fmla="val 653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0300" y="1691580"/>
            <a:ext cx="2419350" cy="2331243"/>
          </a:xfrm>
          <a:prstGeom prst="roundRect">
            <a:avLst>
              <a:gd name="adj" fmla="val 653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858250" y="1691580"/>
            <a:ext cx="2419350" cy="2331243"/>
          </a:xfrm>
          <a:prstGeom prst="roundRect">
            <a:avLst>
              <a:gd name="adj" fmla="val 653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609600"/>
            <a:ext cx="11277600" cy="548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0F172A"/>
                </a:solidFill>
                <a:latin typeface="Plus Jakarta Sans"/>
              </a:rPr>
              <a:t>Kasus Penggunaan Optimal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28725" y="2005905"/>
            <a:ext cx="223837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2563EB"/>
                </a:solidFill>
                <a:latin typeface="Inter"/>
              </a:rPr>
              <a:t>PUBLIC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28725" y="2348805"/>
            <a:ext cx="2350293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Plus Jakarta Sans"/>
              </a:rPr>
              <a:t>Aplikasi Web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28725" y="2748855"/>
            <a:ext cx="1885950" cy="9596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Platform e-commerce dengan fluktuasi pengunjung tajam harian.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76675" y="2005905"/>
            <a:ext cx="223837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2563EB"/>
                </a:solidFill>
                <a:latin typeface="Inter"/>
              </a:rPr>
              <a:t>PRIVATE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76675" y="2348805"/>
            <a:ext cx="2350293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Plus Jakarta Sans"/>
              </a:rPr>
              <a:t>Basis Data Inti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76675" y="2748855"/>
            <a:ext cx="1885950" cy="719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Penyimpanan rekam medis elektronik rumah sakit.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4625" y="2005905"/>
            <a:ext cx="223837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2563EB"/>
                </a:solidFill>
                <a:latin typeface="Inter"/>
              </a:rPr>
              <a:t>HYBRID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4625" y="2348805"/>
            <a:ext cx="2350293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Plus Jakarta Sans"/>
              </a:rPr>
              <a:t>Analisis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4625" y="2748855"/>
            <a:ext cx="1885950" cy="9596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Data lokal diolah menggunakan kecerdasan buatan publik.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72575" y="2005905"/>
            <a:ext cx="223837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2563EB"/>
                </a:solidFill>
                <a:latin typeface="Inter"/>
              </a:rPr>
              <a:t>COMMUNITY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72575" y="2348805"/>
            <a:ext cx="2350293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Plus Jakarta Sans"/>
              </a:rPr>
              <a:t>Layanan Sipil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72575" y="2748855"/>
            <a:ext cx="1885950" cy="719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Jaringan pusat data antar lembaga kementerian.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4030860"/>
            <a:ext cx="4572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88890"/>
            <a:ext cx="112776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2563EB"/>
                </a:solidFill>
                <a:latin typeface="Inter"/>
              </a:rPr>
              <a:t>BAGIAN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131790"/>
            <a:ext cx="11277600" cy="6704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b="1" sz="4800" i="0" u="none">
                <a:solidFill>
                  <a:srgbClr val="000000"/>
                </a:solidFill>
                <a:latin typeface="Plus Jakarta Sans"/>
              </a:rPr>
              <a:t>Arsitektur Multi-cloud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600" y="1462980"/>
            <a:ext cx="4953000" cy="4785419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600" y="2473523"/>
            <a:ext cx="4953000" cy="2764333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646140"/>
            <a:ext cx="257175" cy="2286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389090"/>
            <a:ext cx="257175" cy="228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609600"/>
            <a:ext cx="11277600" cy="548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0F172A"/>
                </a:solidFill>
                <a:latin typeface="Plus Jakarta Sans"/>
              </a:rPr>
              <a:t>Konsep Multi-cloud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41240"/>
            <a:ext cx="504825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475569"/>
                </a:solidFill>
                <a:latin typeface="Inter"/>
              </a:rPr>
              <a:t>Penggunaan layanan dari dua atau lebih penyedia cloud publik secara bersamaan untuk mendistribusikan beban kerja teknis.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3975" y="3627090"/>
            <a:ext cx="4929187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1" sz="1500" i="0" u="none">
                <a:solidFill>
                  <a:srgbClr val="475569"/>
                </a:solidFill>
                <a:latin typeface="Inter"/>
              </a:rPr>
              <a:t>Independensi:</a:t>
            </a:r>
            <a:r>
              <a:rPr b="0" sz="1500" i="0" u="none">
                <a:solidFill>
                  <a:srgbClr val="475569"/>
                </a:solidFill>
                <a:latin typeface="Inter"/>
              </a:rPr>
              <a:t> Menghindari vendor lock-in.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3975" y="4370040"/>
            <a:ext cx="4638675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1" sz="1500" i="0" u="none">
                <a:solidFill>
                  <a:srgbClr val="475569"/>
                </a:solidFill>
                <a:latin typeface="Inter"/>
              </a:rPr>
              <a:t>Spesialisasi:</a:t>
            </a:r>
            <a:r>
              <a:rPr b="0" sz="1500" i="0" u="none">
                <a:solidFill>
                  <a:srgbClr val="475569"/>
                </a:solidFill>
                <a:latin typeface="Inter"/>
              </a:rPr>
              <a:t> Memanfaatkan keunggulan tiap vendor.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1691580"/>
            <a:ext cx="4953000" cy="1706760"/>
          </a:xfrm>
          <a:prstGeom prst="roundRect">
            <a:avLst>
              <a:gd name="adj" fmla="val 892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324600" y="1691580"/>
            <a:ext cx="4953000" cy="1706760"/>
          </a:xfrm>
          <a:prstGeom prst="roundRect">
            <a:avLst>
              <a:gd name="adj" fmla="val 892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4312890"/>
            <a:ext cx="4953000" cy="1706760"/>
          </a:xfrm>
          <a:prstGeom prst="roundRect">
            <a:avLst>
              <a:gd name="adj" fmla="val 892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324600" y="4312890"/>
            <a:ext cx="4953000" cy="1706760"/>
          </a:xfrm>
          <a:prstGeom prst="roundRect">
            <a:avLst>
              <a:gd name="adj" fmla="val 892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1996380"/>
            <a:ext cx="4343400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1996380"/>
            <a:ext cx="4343400" cy="3048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9200" y="4617690"/>
            <a:ext cx="4343400" cy="3048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4617690"/>
            <a:ext cx="4343400" cy="304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14400" y="609600"/>
            <a:ext cx="11277600" cy="548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0F172A"/>
                </a:solidFill>
                <a:latin typeface="Plus Jakarta Sans"/>
              </a:rPr>
              <a:t>Pendorong Utama Adopsi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9200" y="2453580"/>
            <a:ext cx="5700712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Plus Jakarta Sans"/>
              </a:rPr>
              <a:t>Redundansi Global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19200" y="2853630"/>
            <a:ext cx="5429250" cy="2399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Mitigasi risiko kegagalan satu wilayah layanan penuh.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453580"/>
            <a:ext cx="556260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Plus Jakarta Sans"/>
              </a:rPr>
              <a:t>Layanan Spesifik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2853630"/>
            <a:ext cx="5429250" cy="2399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AI dari vendor A, database dari vendor B.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9200" y="5074890"/>
            <a:ext cx="5700712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Plus Jakarta Sans"/>
              </a:rPr>
              <a:t>Daya Tawar Harga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19200" y="5474940"/>
            <a:ext cx="5429250" cy="2399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Negosiasi biaya komputasi yang lebih kompetitif.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5074890"/>
            <a:ext cx="556260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Plus Jakarta Sans"/>
              </a:rPr>
              <a:t>Kepatuhan Geografis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5474940"/>
            <a:ext cx="5429250" cy="2399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Penempatan data spesifik sesuai regulasi negara.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3015704"/>
            <a:ext cx="3251150" cy="2327671"/>
          </a:xfrm>
          <a:prstGeom prst="roundRect">
            <a:avLst>
              <a:gd name="adj" fmla="val 654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470350" y="3015704"/>
            <a:ext cx="3251150" cy="2327671"/>
          </a:xfrm>
          <a:prstGeom prst="roundRect">
            <a:avLst>
              <a:gd name="adj" fmla="val 654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26300" y="3015704"/>
            <a:ext cx="3251299" cy="2327671"/>
          </a:xfrm>
          <a:prstGeom prst="roundRect">
            <a:avLst>
              <a:gd name="adj" fmla="val 654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5100" y="3320504"/>
            <a:ext cx="609600" cy="6096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051" y="3320504"/>
            <a:ext cx="609600" cy="609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7150" y="3320504"/>
            <a:ext cx="609600" cy="609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87500" y="3491954"/>
            <a:ext cx="304800" cy="2667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29163" y="3491954"/>
            <a:ext cx="333375" cy="2667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99550" y="3491954"/>
            <a:ext cx="304800" cy="2667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126756" y="1514623"/>
            <a:ext cx="1938486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2563EB"/>
                </a:solidFill>
                <a:latin typeface="Inter"/>
              </a:rPr>
              <a:t>BLOK BANGUNAN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83048" y="1857523"/>
            <a:ext cx="7225903" cy="548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b="1" sz="3600" i="0" u="none">
                <a:solidFill>
                  <a:srgbClr val="0F172A"/>
                </a:solidFill>
                <a:latin typeface="Plus Jakarta Sans"/>
              </a:rPr>
              <a:t>Komponen Arsitektur Inti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96032" y="4158704"/>
            <a:ext cx="1887735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0F172A"/>
                </a:solidFill>
                <a:latin typeface="Plus Jakarta Sans"/>
              </a:rPr>
              <a:t>API Gateway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9006" y="4558754"/>
            <a:ext cx="3301937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Pintu masuk tunggal perutean lalu lintas.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729" y="4158704"/>
            <a:ext cx="1950243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0F172A"/>
                </a:solidFill>
                <a:latin typeface="Plus Jakarta Sans"/>
              </a:rPr>
              <a:t>Service Mesh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44956" y="4558754"/>
            <a:ext cx="3301937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Jaringan komunikasi antar layanan mikro.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51812" y="4158704"/>
            <a:ext cx="2200275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0F172A"/>
                </a:solidFill>
                <a:latin typeface="Plus Jakarta Sans"/>
              </a:rPr>
              <a:t>Identity Broker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0888" y="4558754"/>
            <a:ext cx="3302124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Manajemen otentikasi lintas vendor terpusat.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1767780"/>
            <a:ext cx="3117800" cy="1135260"/>
          </a:xfrm>
          <a:prstGeom prst="roundRect">
            <a:avLst>
              <a:gd name="adj" fmla="val 10068"/>
            </a:avLst>
          </a:prstGeom>
          <a:solidFill>
            <a:srgbClr val="FFFFFF"/>
          </a:solidFill>
          <a:ln w="19050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37025" y="1767780"/>
            <a:ext cx="3117800" cy="1135260"/>
          </a:xfrm>
          <a:prstGeom prst="roundRect">
            <a:avLst>
              <a:gd name="adj" fmla="val 10068"/>
            </a:avLst>
          </a:prstGeom>
          <a:solidFill>
            <a:srgbClr val="FFFFFF"/>
          </a:solidFill>
          <a:ln w="19050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59650" y="1767780"/>
            <a:ext cx="3117800" cy="1135260"/>
          </a:xfrm>
          <a:prstGeom prst="roundRect">
            <a:avLst>
              <a:gd name="adj" fmla="val 10068"/>
            </a:avLst>
          </a:prstGeom>
          <a:solidFill>
            <a:srgbClr val="FFFFFF"/>
          </a:solidFill>
          <a:ln w="19050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4600" y="2221110"/>
            <a:ext cx="200025" cy="2286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7225" y="2221110"/>
            <a:ext cx="200025" cy="228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609600"/>
            <a:ext cx="11277600" cy="548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0F172A"/>
                </a:solidFill>
                <a:latin typeface="Plus Jakarta Sans"/>
              </a:rPr>
              <a:t>Pola Distribusi Terpisah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-190500" y="3360241"/>
            <a:ext cx="12573000" cy="3466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729"/>
              </a:lnSpc>
            </a:pPr>
            <a:r>
              <a:rPr b="1" sz="2100" i="0" u="none">
                <a:solidFill>
                  <a:srgbClr val="475569"/>
                </a:solidFill>
                <a:latin typeface="Plus Jakarta Sans"/>
              </a:rPr>
              <a:t>Beban kerja dipisahkan murni berdasarkan spesialisasi layanan terbaik.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2284" y="2015430"/>
            <a:ext cx="3442031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0F172A"/>
                </a:solidFill>
                <a:latin typeface="Plus Jakarta Sans"/>
              </a:rPr>
              <a:t>Vendor Cloud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4237" y="2415480"/>
            <a:ext cx="3278125" cy="2399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Frontend &amp; Web Hosting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74909" y="2015430"/>
            <a:ext cx="3442031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0F172A"/>
                </a:solidFill>
                <a:latin typeface="Plus Jakarta Sans"/>
              </a:rPr>
              <a:t>Vendor Cloud 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56862" y="2415480"/>
            <a:ext cx="3278125" cy="2399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Analytics &amp; Machine Learning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97535" y="2015430"/>
            <a:ext cx="3442031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0F172A"/>
                </a:solidFill>
                <a:latin typeface="Plus Jakarta Sans"/>
              </a:rPr>
              <a:t>Vendor Cloud 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79488" y="2415480"/>
            <a:ext cx="3278125" cy="2399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Data Warehouse Inti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2657475"/>
            <a:ext cx="4953000" cy="1287660"/>
          </a:xfrm>
          <a:prstGeom prst="roundRect">
            <a:avLst>
              <a:gd name="adj" fmla="val 11835"/>
            </a:avLst>
          </a:prstGeom>
          <a:solidFill>
            <a:srgbClr val="F8FAFC"/>
          </a:solidFill>
          <a:ln w="1905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324600" y="2657475"/>
            <a:ext cx="4953000" cy="1287660"/>
          </a:xfrm>
          <a:prstGeom prst="roundRect">
            <a:avLst>
              <a:gd name="adj" fmla="val 11835"/>
            </a:avLst>
          </a:prstGeom>
          <a:solidFill>
            <a:srgbClr val="F8FAFC"/>
          </a:solidFill>
          <a:ln w="1905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7400" y="5139779"/>
            <a:ext cx="457200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609600"/>
            <a:ext cx="11277600" cy="548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0F172A"/>
                </a:solidFill>
                <a:latin typeface="Plus Jakarta Sans"/>
              </a:rPr>
              <a:t>Pola Redundansi Aktif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-190500" y="5901779"/>
            <a:ext cx="12573000" cy="3466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729"/>
              </a:lnSpc>
            </a:pPr>
            <a:r>
              <a:rPr b="1" sz="2100" i="0" u="none">
                <a:solidFill>
                  <a:srgbClr val="475569"/>
                </a:solidFill>
                <a:latin typeface="Plus Jakarta Sans"/>
              </a:rPr>
              <a:t>Replika sistem penuh pada dua vendor. Peralihan instan saat gangguan.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8250" y="2981325"/>
            <a:ext cx="5650706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Plus Jakarta Sans"/>
              </a:rPr>
              <a:t>Region Cloud A (Aktif)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8250" y="3381375"/>
            <a:ext cx="5381625" cy="2399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Lalu Lintas Pengguna: 50%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48450" y="2981325"/>
            <a:ext cx="554355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Plus Jakarta Sans"/>
              </a:rPr>
              <a:t>Region Cloud B (Aktif)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48450" y="3381375"/>
            <a:ext cx="5381625" cy="2399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Lalu Lintas Pengguna: 50%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01875" y="1135409"/>
            <a:ext cx="5988248" cy="548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b="1" sz="3600" i="0" u="none">
                <a:solidFill>
                  <a:srgbClr val="0F172A"/>
                </a:solidFill>
                <a:latin typeface="Plus Jakarta Sans"/>
              </a:rPr>
              <a:t>Realitas Operasional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33500" y="4236690"/>
            <a:ext cx="9525000" cy="148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900"/>
              </a:lnSpc>
            </a:pPr>
            <a:r>
              <a:rPr b="1" sz="3000" i="0" u="none">
                <a:solidFill>
                  <a:srgbClr val="0F172A"/>
                </a:solidFill>
                <a:latin typeface="Plus Jakarta Sans"/>
              </a:rPr>
              <a:t>Organisasi mengalami kesulitan mengelola visibilitas keamanan lintas penyedia cloud.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85046" y="2445990"/>
            <a:ext cx="3821906" cy="1333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0500"/>
              </a:lnSpc>
            </a:pPr>
            <a:r>
              <a:rPr b="1" sz="10500" i="0" u="none">
                <a:solidFill>
                  <a:srgbClr val="0F172A"/>
                </a:solidFill>
                <a:latin typeface="Plus Jakarta Sans"/>
              </a:rPr>
              <a:t>65%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3425279"/>
            <a:ext cx="3251150" cy="1508521"/>
          </a:xfrm>
          <a:prstGeom prst="roundRect">
            <a:avLst>
              <a:gd name="adj" fmla="val 1010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470350" y="3425279"/>
            <a:ext cx="3251150" cy="1508521"/>
          </a:xfrm>
          <a:prstGeom prst="roundRect">
            <a:avLst>
              <a:gd name="adj" fmla="val 1010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26300" y="3425279"/>
            <a:ext cx="3251299" cy="1508521"/>
          </a:xfrm>
          <a:prstGeom prst="roundRect">
            <a:avLst>
              <a:gd name="adj" fmla="val 1010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29100" y="1924198"/>
            <a:ext cx="2533798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2563EB"/>
                </a:solidFill>
                <a:latin typeface="Inter"/>
              </a:rPr>
              <a:t>HAMBATAN INTEGRASI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01838" y="2267098"/>
            <a:ext cx="6588323" cy="548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b="1" sz="3600" i="0" u="none">
                <a:solidFill>
                  <a:srgbClr val="0F172A"/>
                </a:solidFill>
                <a:latin typeface="Plus Jakarta Sans"/>
              </a:rPr>
              <a:t>Tantangan Multi-cloud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8959" y="3739604"/>
            <a:ext cx="3442031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0F172A"/>
                </a:solidFill>
                <a:latin typeface="Plus Jakarta Sans"/>
              </a:rPr>
              <a:t>Kompleksitas Jaringan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912" y="4139654"/>
            <a:ext cx="3278125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Rute komunikasi antar vendor rentan latensi.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4909" y="3739604"/>
            <a:ext cx="3442031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0F172A"/>
                </a:solidFill>
                <a:latin typeface="Plus Jakarta Sans"/>
              </a:rPr>
              <a:t>Silo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6862" y="4139654"/>
            <a:ext cx="3278125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Fragmentasi data menyulitkan analisis terpusat.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30836" y="3739604"/>
            <a:ext cx="3442227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0F172A"/>
                </a:solidFill>
                <a:latin typeface="Plus Jakarta Sans"/>
              </a:rPr>
              <a:t>Kurva Belajar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12794" y="4139654"/>
            <a:ext cx="3278311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Kebutuhan keahlian teknis untuk berbagai platform.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1691580"/>
            <a:ext cx="3251150" cy="2099071"/>
          </a:xfrm>
          <a:prstGeom prst="roundRect">
            <a:avLst>
              <a:gd name="adj" fmla="val 726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470350" y="1691580"/>
            <a:ext cx="3251150" cy="2099071"/>
          </a:xfrm>
          <a:prstGeom prst="roundRect">
            <a:avLst>
              <a:gd name="adj" fmla="val 726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26300" y="1691580"/>
            <a:ext cx="3251299" cy="2099071"/>
          </a:xfrm>
          <a:prstGeom prst="roundRect">
            <a:avLst>
              <a:gd name="adj" fmla="val 726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1996380"/>
            <a:ext cx="2641550" cy="381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5150" y="1996380"/>
            <a:ext cx="2641550" cy="381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1100" y="1996380"/>
            <a:ext cx="2641699" cy="381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14400" y="609600"/>
            <a:ext cx="11277600" cy="548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0F172A"/>
                </a:solidFill>
                <a:latin typeface="Plus Jakarta Sans"/>
              </a:rPr>
              <a:t>Alat Orkestrasi Utama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19200" y="2605980"/>
            <a:ext cx="3467034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Plus Jakarta Sans"/>
              </a:rPr>
              <a:t>Kubernetes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19200" y="3006030"/>
            <a:ext cx="273680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Manajemen kontainer agnostik lintas platform.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75150" y="2605980"/>
            <a:ext cx="3467034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Plus Jakarta Sans"/>
              </a:rPr>
              <a:t>Terraform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75150" y="3006030"/>
            <a:ext cx="273680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Provisi infrastruktur sebagai kode seragam.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31100" y="2605980"/>
            <a:ext cx="346723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Plus Jakarta Sans"/>
              </a:rPr>
              <a:t>GitOps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31100" y="3006030"/>
            <a:ext cx="2736949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Deployment otomatis terpusat berbasis repositori.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600" y="2969865"/>
            <a:ext cx="4953000" cy="17716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1037" y="3284190"/>
            <a:ext cx="1000125" cy="1143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569940"/>
            <a:ext cx="228600" cy="2286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484340"/>
            <a:ext cx="285750" cy="228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609600"/>
            <a:ext cx="11277600" cy="548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0F172A"/>
                </a:solidFill>
                <a:latin typeface="Plus Jakarta Sans"/>
              </a:rPr>
              <a:t>Postur Keamanan Seragam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6800" y="2636490"/>
            <a:ext cx="5100637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Plus Jakarta Sans"/>
              </a:rPr>
              <a:t>Kebijakan Terpusat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800" y="2960340"/>
            <a:ext cx="485775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475569"/>
                </a:solidFill>
                <a:latin typeface="Inter"/>
              </a:rPr>
              <a:t>Satu aturan keamanan untuk semua cloud.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5400" y="3550890"/>
            <a:ext cx="4788098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Plus Jakarta Sans"/>
              </a:rPr>
              <a:t>Enkripsi End-to-End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3874740"/>
            <a:ext cx="4560093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475569"/>
                </a:solidFill>
                <a:latin typeface="Inter"/>
              </a:rPr>
              <a:t>Pengamanan data saat transit dan diam.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52550" y="4465290"/>
            <a:ext cx="472559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Plus Jakarta Sans"/>
              </a:rPr>
              <a:t>Akses Terkelola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4789140"/>
            <a:ext cx="4500562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475569"/>
                </a:solidFill>
                <a:latin typeface="Inter"/>
              </a:rPr>
              <a:t>Hak istimewa minimum lintas penyedia.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4030860"/>
            <a:ext cx="4572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88890"/>
            <a:ext cx="112776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2563EB"/>
                </a:solidFill>
                <a:latin typeface="Inter"/>
              </a:rPr>
              <a:t>BAGIAN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131790"/>
            <a:ext cx="11277600" cy="6704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b="1" sz="4800" i="0" u="none">
                <a:solidFill>
                  <a:srgbClr val="000000"/>
                </a:solidFill>
                <a:latin typeface="Plus Jakarta Sans"/>
              </a:rPr>
              <a:t>Analisis Trade-off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3730079"/>
            <a:ext cx="4953000" cy="1337071"/>
          </a:xfrm>
          <a:prstGeom prst="roundRect">
            <a:avLst>
              <a:gd name="adj" fmla="val 1139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3730079"/>
            <a:ext cx="38100" cy="1337071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600" y="1462980"/>
            <a:ext cx="4953000" cy="478541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609600"/>
            <a:ext cx="11277600" cy="548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0F172A"/>
                </a:solidFill>
                <a:latin typeface="Plus Jakarta Sans"/>
              </a:rPr>
              <a:t>Keseimbangan Strategis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44229"/>
            <a:ext cx="504825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475569"/>
                </a:solidFill>
                <a:latin typeface="Inter"/>
              </a:rPr>
              <a:t>Setiap keputusan arsitektur awan adalah negosiasi antara dua variabel utama: efisiensi finansial dan otoritas sistem.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1100" y="3958679"/>
            <a:ext cx="5850731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Plus Jakarta Sans"/>
              </a:rPr>
              <a:t>Biaya Modal vs Operasional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1100" y="4358729"/>
            <a:ext cx="455295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Investasi awal infrastruktur fisik melawan biaya sewa elastis bulanan.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86475" y="2072580"/>
            <a:ext cx="19050" cy="12573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09600"/>
            <a:ext cx="11277600" cy="548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0F172A"/>
                </a:solidFill>
                <a:latin typeface="Plus Jakarta Sans"/>
              </a:rPr>
              <a:t>Kuadran Public Cloud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-190500" y="3939480"/>
            <a:ext cx="12573000" cy="2970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340"/>
              </a:lnSpc>
            </a:pPr>
            <a:r>
              <a:rPr b="1" sz="1800" i="0" u="none">
                <a:solidFill>
                  <a:srgbClr val="475569"/>
                </a:solidFill>
                <a:latin typeface="Plus Jakarta Sans"/>
              </a:rPr>
              <a:t>Sempurna untuk eksperimen cepat tanpa komitmen dana besar.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72580"/>
            <a:ext cx="5893593" cy="76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b="1" sz="6000" i="0" u="none">
                <a:solidFill>
                  <a:srgbClr val="0F172A"/>
                </a:solidFill>
                <a:latin typeface="Plus Jakarta Sans"/>
              </a:rPr>
              <a:t>Rendah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86980"/>
            <a:ext cx="5893593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2563EB"/>
                </a:solidFill>
                <a:latin typeface="Inter"/>
              </a:rPr>
              <a:t>BIAYA AWAL (CAPEX)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62725" y="2072580"/>
            <a:ext cx="5629275" cy="76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b="1" sz="6000" i="0" u="none">
                <a:solidFill>
                  <a:srgbClr val="0F172A"/>
                </a:solidFill>
                <a:latin typeface="Plus Jakarta Sans"/>
              </a:rPr>
              <a:t>Rendah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62725" y="2986980"/>
            <a:ext cx="562927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KONTROL INFRASTRUKTUR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86475" y="2072580"/>
            <a:ext cx="19050" cy="12573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09600"/>
            <a:ext cx="11277600" cy="548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0F172A"/>
                </a:solidFill>
                <a:latin typeface="Plus Jakarta Sans"/>
              </a:rPr>
              <a:t>Kuadran Private Cloud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-190500" y="3939480"/>
            <a:ext cx="12573000" cy="2970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340"/>
              </a:lnSpc>
            </a:pPr>
            <a:r>
              <a:rPr b="1" sz="1800" i="0" u="none">
                <a:solidFill>
                  <a:srgbClr val="475569"/>
                </a:solidFill>
                <a:latin typeface="Plus Jakarta Sans"/>
              </a:rPr>
              <a:t>Wajib untuk entitas dengan regulasi data internal yang sangat ketat.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72580"/>
            <a:ext cx="5893593" cy="76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b="1" sz="6000" i="0" u="none">
                <a:solidFill>
                  <a:srgbClr val="0F172A"/>
                </a:solidFill>
                <a:latin typeface="Plus Jakarta Sans"/>
              </a:rPr>
              <a:t>Tinggi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86980"/>
            <a:ext cx="5893593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BIAYA AWAL (CAPEX)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62725" y="2072580"/>
            <a:ext cx="5629275" cy="76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b="1" sz="6000" i="0" u="none">
                <a:solidFill>
                  <a:srgbClr val="0F172A"/>
                </a:solidFill>
                <a:latin typeface="Plus Jakarta Sans"/>
              </a:rPr>
              <a:t>Penuh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62725" y="2986980"/>
            <a:ext cx="562927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2563EB"/>
                </a:solidFill>
                <a:latin typeface="Inter"/>
              </a:rPr>
              <a:t>KONTROL INFRASTRUKTUR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0687" y="2388840"/>
            <a:ext cx="1190625" cy="952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89311" y="1078259"/>
            <a:ext cx="7013376" cy="548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b="1" sz="3600" i="0" u="none">
                <a:solidFill>
                  <a:srgbClr val="0F172A"/>
                </a:solidFill>
                <a:latin typeface="Plus Jakarta Sans"/>
              </a:rPr>
              <a:t>Titik Ekuilibrium Optimal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33500" y="3798540"/>
            <a:ext cx="9525000" cy="1981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900"/>
              </a:lnSpc>
            </a:pPr>
            <a:r>
              <a:rPr b="1" sz="3000" i="0" u="none">
                <a:solidFill>
                  <a:srgbClr val="0F172A"/>
                </a:solidFill>
                <a:latin typeface="Plus Jakarta Sans"/>
              </a:rPr>
              <a:t>Arsitektur Hybrid meminimalkan pengeluaran modal sekaligus mengamankan aset data paling berharga.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3149054"/>
            <a:ext cx="3251150" cy="2060971"/>
          </a:xfrm>
          <a:prstGeom prst="roundRect">
            <a:avLst>
              <a:gd name="adj" fmla="val 739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470350" y="3149054"/>
            <a:ext cx="3251150" cy="2060971"/>
          </a:xfrm>
          <a:prstGeom prst="roundRect">
            <a:avLst>
              <a:gd name="adj" fmla="val 739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26300" y="3149054"/>
            <a:ext cx="3251299" cy="2060971"/>
          </a:xfrm>
          <a:prstGeom prst="roundRect">
            <a:avLst>
              <a:gd name="adj" fmla="val 739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9400" y="3453854"/>
            <a:ext cx="381000" cy="381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1538" y="3453854"/>
            <a:ext cx="428625" cy="381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1450" y="3453854"/>
            <a:ext cx="381000" cy="381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835053" y="1647973"/>
            <a:ext cx="2521892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2563EB"/>
                </a:solidFill>
                <a:latin typeface="Inter"/>
              </a:rPr>
              <a:t>VARIABEL KEPUTUSAN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83035" y="1990873"/>
            <a:ext cx="7425928" cy="548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b="1" sz="3600" i="0" u="none">
                <a:solidFill>
                  <a:srgbClr val="0F172A"/>
                </a:solidFill>
                <a:latin typeface="Plus Jakarta Sans"/>
              </a:rPr>
              <a:t>Faktor Penentu Arsitektur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2277" y="4025354"/>
            <a:ext cx="1975246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0F172A"/>
                </a:solidFill>
                <a:latin typeface="Plus Jakarta Sans"/>
              </a:rPr>
              <a:t>Regulasi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9006" y="4425404"/>
            <a:ext cx="3301937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Syarat kedaulatan lokasi fisik penyimpanan.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8183" y="4025354"/>
            <a:ext cx="2675334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0F172A"/>
                </a:solidFill>
                <a:latin typeface="Plus Jakarta Sans"/>
              </a:rPr>
              <a:t>Pola Pertumbuhan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44956" y="4425404"/>
            <a:ext cx="3301937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Prediksi lonjakan aktivitas pengguna bulanan.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5499" y="4025354"/>
            <a:ext cx="3212901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0F172A"/>
                </a:solidFill>
                <a:latin typeface="Plus Jakarta Sans"/>
              </a:rPr>
              <a:t>Kebutuhan Komputasi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0888" y="4425404"/>
            <a:ext cx="3302124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Ketergantungan pada pemrosesan grafis spesifik.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301180"/>
            <a:ext cx="4027586" cy="190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941986" y="2301180"/>
            <a:ext cx="3469034" cy="190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411021" y="2301180"/>
            <a:ext cx="2866578" cy="190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2906017"/>
            <a:ext cx="402758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941986" y="2906017"/>
            <a:ext cx="346903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1021" y="2906017"/>
            <a:ext cx="286657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3496567"/>
            <a:ext cx="402758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941986" y="3496567"/>
            <a:ext cx="346903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411021" y="3496567"/>
            <a:ext cx="286657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4087117"/>
            <a:ext cx="402758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941986" y="4087117"/>
            <a:ext cx="346903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411021" y="4087117"/>
            <a:ext cx="286657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4400" y="4677667"/>
            <a:ext cx="402758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41986" y="4677667"/>
            <a:ext cx="346903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411021" y="4677667"/>
            <a:ext cx="286657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914400" y="1691580"/>
          <a:ext cx="10363198" cy="3000375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4027586"/>
                <a:gridCol w="3469034"/>
                <a:gridCol w="2866578"/>
              </a:tblGrid>
              <a:tr h="600075"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Profil Beban Kerja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Prioritas Utama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Arsitektur Saran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Inter"/>
                        </a:rPr>
                        <a:t>Riset Terisolasi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Inter"/>
                        </a:rPr>
                        <a:t>Kerahasiaan Mutlak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475569"/>
                          </a:solidFill>
                          <a:latin typeface="Inter"/>
                        </a:rPr>
                        <a:t>Private Cloud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Inter"/>
                        </a:rPr>
                        <a:t>Layanan Konsumen Massal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Inter"/>
                        </a:rPr>
                        <a:t>Skala Dinamis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475569"/>
                          </a:solidFill>
                          <a:latin typeface="Inter"/>
                        </a:rPr>
                        <a:t>Public Cloud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Inter"/>
                        </a:rPr>
                        <a:t>Keuangan Global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Inter"/>
                        </a:rPr>
                        <a:t>Kepatuhan + Skala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475569"/>
                          </a:solidFill>
                          <a:latin typeface="Inter"/>
                        </a:rPr>
                        <a:t>Hybrid Cloud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Inter"/>
                        </a:rPr>
                        <a:t>Platform Tahan Bencana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Inter"/>
                        </a:rPr>
                        <a:t>Ketersediaan 99.999%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475569"/>
                          </a:solidFill>
                          <a:latin typeface="Inter"/>
                        </a:rPr>
                        <a:t>Multi-cloud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914400" y="609600"/>
            <a:ext cx="11277600" cy="548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0F172A"/>
                </a:solidFill>
                <a:latin typeface="Plus Jakarta Sans"/>
              </a:rPr>
              <a:t>Matriks Keputusan Beban Kerja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91200" y="2846040"/>
            <a:ext cx="6096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08101" y="1535459"/>
            <a:ext cx="6375796" cy="548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b="1" sz="3600" i="0" u="none">
                <a:solidFill>
                  <a:srgbClr val="0F172A"/>
                </a:solidFill>
                <a:latin typeface="Plus Jakarta Sans"/>
              </a:rPr>
              <a:t>Realitas Implementasi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8187" y="3341340"/>
            <a:ext cx="10715625" cy="1981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900"/>
              </a:lnSpc>
            </a:pPr>
            <a:r>
              <a:rPr b="1" sz="3000" i="0" u="none">
                <a:solidFill>
                  <a:srgbClr val="0F172A"/>
                </a:solidFill>
                <a:latin typeface="Plus Jakarta Sans"/>
              </a:rPr>
              <a:t>"Tidak ada satu model cloud yang sempurna. Desain arsitektur terbaik adalah negosiasi kompromi yang paling selaras dengan tujuan bisnis."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4030860"/>
            <a:ext cx="4572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88890"/>
            <a:ext cx="112776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2563EB"/>
                </a:solidFill>
                <a:latin typeface="Inter"/>
              </a:rPr>
              <a:t>BAGIAN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131790"/>
            <a:ext cx="11277600" cy="6704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b="1" sz="4800" i="0" u="none">
                <a:solidFill>
                  <a:srgbClr val="000000"/>
                </a:solidFill>
                <a:latin typeface="Plus Jakarta Sans"/>
              </a:rPr>
              <a:t>Studi Kasus: MajuTech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600" y="1462980"/>
            <a:ext cx="4953000" cy="4785419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646140"/>
            <a:ext cx="171450" cy="2286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389090"/>
            <a:ext cx="285750" cy="228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609600"/>
            <a:ext cx="11277600" cy="548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0F172A"/>
                </a:solidFill>
                <a:latin typeface="Plus Jakarta Sans"/>
              </a:rPr>
              <a:t>Profil Perusahaan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826990"/>
            <a:ext cx="50482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475569"/>
                </a:solidFill>
                <a:latin typeface="Inter"/>
              </a:rPr>
              <a:t>MajuTech adalah startup teknologi finansial dengan pertumbuhan pesat, melayani jutaan transaksi harian.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8250" y="3627090"/>
            <a:ext cx="3750468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1" sz="1500" i="0" u="none">
                <a:solidFill>
                  <a:srgbClr val="475569"/>
                </a:solidFill>
                <a:latin typeface="Inter"/>
              </a:rPr>
              <a:t>Pengguna:</a:t>
            </a:r>
            <a:r>
              <a:rPr b="0" sz="1500" i="0" u="none">
                <a:solidFill>
                  <a:srgbClr val="475569"/>
                </a:solidFill>
                <a:latin typeface="Inter"/>
              </a:rPr>
              <a:t> 5 Juta Nasabah Aktif.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52550" y="4370040"/>
            <a:ext cx="5000625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1" sz="1500" i="0" u="none">
                <a:solidFill>
                  <a:srgbClr val="475569"/>
                </a:solidFill>
                <a:latin typeface="Inter"/>
              </a:rPr>
              <a:t>Layanan:</a:t>
            </a:r>
            <a:r>
              <a:rPr b="0" sz="1500" i="0" u="none">
                <a:solidFill>
                  <a:srgbClr val="475569"/>
                </a:solidFill>
                <a:latin typeface="Inter"/>
              </a:rPr>
              <a:t> Pembayaran dan Pinjaman Digital.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3120479"/>
            <a:ext cx="3251150" cy="2118121"/>
          </a:xfrm>
          <a:prstGeom prst="roundRect">
            <a:avLst>
              <a:gd name="adj" fmla="val 719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470350" y="3120479"/>
            <a:ext cx="3251150" cy="2118121"/>
          </a:xfrm>
          <a:prstGeom prst="roundRect">
            <a:avLst>
              <a:gd name="adj" fmla="val 719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26300" y="3120479"/>
            <a:ext cx="3251299" cy="2118121"/>
          </a:xfrm>
          <a:prstGeom prst="roundRect">
            <a:avLst>
              <a:gd name="adj" fmla="val 719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725" y="3434804"/>
            <a:ext cx="2622500" cy="381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4675" y="3434804"/>
            <a:ext cx="2622500" cy="381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0625" y="3434804"/>
            <a:ext cx="2622649" cy="381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110032" y="1619398"/>
            <a:ext cx="1971786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2563EB"/>
                </a:solidFill>
                <a:latin typeface="Inter"/>
              </a:rPr>
              <a:t>ANALISIS SITUASI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5512" y="1962298"/>
            <a:ext cx="7800975" cy="548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b="1" sz="3600" i="0" u="none">
                <a:solidFill>
                  <a:srgbClr val="0F172A"/>
                </a:solidFill>
                <a:latin typeface="Plus Jakarta Sans"/>
              </a:rPr>
              <a:t>Kendala Infrastruktur Lama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959" y="4044404"/>
            <a:ext cx="3442031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0F172A"/>
                </a:solidFill>
                <a:latin typeface="Plus Jakarta Sans"/>
              </a:rPr>
              <a:t>Sistem Monolitik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0912" y="4444454"/>
            <a:ext cx="3278125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Semua layanan bertumpuk pada satu server lokal.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4909" y="4044404"/>
            <a:ext cx="3442031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0F172A"/>
                </a:solidFill>
                <a:latin typeface="Plus Jakarta Sans"/>
              </a:rPr>
              <a:t>Biaya Membengkak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56862" y="4444454"/>
            <a:ext cx="3278125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Pembelian server baru setiap bulan.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0836" y="4044404"/>
            <a:ext cx="3442227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0F172A"/>
                </a:solidFill>
                <a:latin typeface="Plus Jakarta Sans"/>
              </a:rPr>
              <a:t>Downtime Bulanan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12794" y="4444454"/>
            <a:ext cx="3278311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Kegagalan sistem saat tanggal gajian tiba.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1691580"/>
            <a:ext cx="3251150" cy="2384821"/>
          </a:xfrm>
          <a:prstGeom prst="roundRect">
            <a:avLst>
              <a:gd name="adj" fmla="val 639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470350" y="1691580"/>
            <a:ext cx="3251150" cy="2384821"/>
          </a:xfrm>
          <a:prstGeom prst="roundRect">
            <a:avLst>
              <a:gd name="adj" fmla="val 639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26300" y="1691580"/>
            <a:ext cx="3251299" cy="2384821"/>
          </a:xfrm>
          <a:prstGeom prst="roundRect">
            <a:avLst>
              <a:gd name="adj" fmla="val 639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1996380"/>
            <a:ext cx="2641550" cy="381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5150" y="1996380"/>
            <a:ext cx="2641550" cy="381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1100" y="1996380"/>
            <a:ext cx="2641699" cy="381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14400" y="609600"/>
            <a:ext cx="11277600" cy="548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0F172A"/>
                </a:solidFill>
                <a:latin typeface="Plus Jakarta Sans"/>
              </a:rPr>
              <a:t>Objektif Transformasi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19200" y="2605980"/>
            <a:ext cx="3467034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Plus Jakarta Sans"/>
              </a:rPr>
              <a:t>Ketersediaan 99.99%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19200" y="3006030"/>
            <a:ext cx="273680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Nihil gangguan saat transaksi puncak.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75150" y="2605980"/>
            <a:ext cx="287364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Plus Jakarta Sans"/>
              </a:rPr>
              <a:t>Kepatuhan Bank Sentral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75150" y="3291780"/>
            <a:ext cx="273680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Data sensitif tetap di server lokal.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31100" y="2605980"/>
            <a:ext cx="346723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Plus Jakarta Sans"/>
              </a:rPr>
              <a:t>Efisiensi Operasional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31100" y="3006030"/>
            <a:ext cx="2736949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Hentikan belanja perangkat keras berlebih.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600" y="2969865"/>
            <a:ext cx="4953000" cy="17716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6725" y="3284190"/>
            <a:ext cx="1428750" cy="1143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646140"/>
            <a:ext cx="257175" cy="2286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389090"/>
            <a:ext cx="257175" cy="228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609600"/>
            <a:ext cx="11277600" cy="548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0F172A"/>
                </a:solidFill>
                <a:latin typeface="Plus Jakarta Sans"/>
              </a:rPr>
              <a:t>Solusi: Hybrid Multi-cloud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26990"/>
            <a:ext cx="50482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475569"/>
                </a:solidFill>
                <a:latin typeface="Inter"/>
              </a:rPr>
              <a:t>Desain gabungan untuk memenuhi regulasi keamanan sekaligus menampung lonjakan trafik pengguna.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3975" y="3627090"/>
            <a:ext cx="4333875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1" sz="1500" i="0" u="none">
                <a:solidFill>
                  <a:srgbClr val="475569"/>
                </a:solidFill>
                <a:latin typeface="Inter"/>
              </a:rPr>
              <a:t>On-Premise:</a:t>
            </a:r>
            <a:r>
              <a:rPr b="0" sz="1500" i="0" u="none">
                <a:solidFill>
                  <a:srgbClr val="475569"/>
                </a:solidFill>
                <a:latin typeface="Inter"/>
              </a:rPr>
              <a:t> Database profil nasabah.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3975" y="4370040"/>
            <a:ext cx="5036343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1" sz="1500" i="0" u="none">
                <a:solidFill>
                  <a:srgbClr val="475569"/>
                </a:solidFill>
                <a:latin typeface="Inter"/>
              </a:rPr>
              <a:t>Public Cloud:</a:t>
            </a:r>
            <a:r>
              <a:rPr b="0" sz="1500" i="0" u="none">
                <a:solidFill>
                  <a:srgbClr val="475569"/>
                </a:solidFill>
                <a:latin typeface="Inter"/>
              </a:rPr>
              <a:t> Aplikasi antarmuka pengguna.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301180"/>
            <a:ext cx="3404592" cy="190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18992" y="2301180"/>
            <a:ext cx="2732633" cy="190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051625" y="2301180"/>
            <a:ext cx="4225974" cy="190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2906017"/>
            <a:ext cx="340459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318992" y="2906017"/>
            <a:ext cx="273263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051625" y="2906017"/>
            <a:ext cx="422597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3496567"/>
            <a:ext cx="340459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18992" y="3496567"/>
            <a:ext cx="273263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051625" y="3496567"/>
            <a:ext cx="422597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4087117"/>
            <a:ext cx="340459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18992" y="4087117"/>
            <a:ext cx="273263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051625" y="4087117"/>
            <a:ext cx="422597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4400" y="4677667"/>
            <a:ext cx="340459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8992" y="4677667"/>
            <a:ext cx="273263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051625" y="4677667"/>
            <a:ext cx="422597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914400" y="1691580"/>
          <a:ext cx="10363199" cy="3000375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3404592"/>
                <a:gridCol w="2732633"/>
                <a:gridCol w="4225974"/>
              </a:tblGrid>
              <a:tr h="600075"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Komponen Sistem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Lokasi Hosting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Alasan Trade-off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Inter"/>
                        </a:rPr>
                        <a:t>Aplikasi Mobile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Inter"/>
                        </a:rPr>
                        <a:t>Cloud Publik 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Inter"/>
                        </a:rPr>
                        <a:t>Skala instan biaya elastis.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Inter"/>
                        </a:rPr>
                        <a:t>Mesin Analisis Risiko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Inter"/>
                        </a:rPr>
                        <a:t>Cloud Publik B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Inter"/>
                        </a:rPr>
                        <a:t>Layanan AI spesifik vendor.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Inter"/>
                        </a:rPr>
                        <a:t>Basis Data Keuangan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Inter"/>
                        </a:rPr>
                        <a:t>Private Lokal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Inter"/>
                        </a:rPr>
                        <a:t>Kontrol data mutlak.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Inter"/>
                        </a:rPr>
                        <a:t>Gateway Pembayaran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Inter"/>
                        </a:rPr>
                        <a:t>Multi-cloud Aktif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Inter"/>
                        </a:rPr>
                        <a:t>Redundansi anti-gagal kritis.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914400" y="609600"/>
            <a:ext cx="11277600" cy="548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0F172A"/>
                </a:solidFill>
                <a:latin typeface="Plus Jakarta Sans"/>
              </a:rPr>
              <a:t>Evaluasi Arsitektur MajuTech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4533900"/>
            <a:ext cx="2286000" cy="1524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227959" y="800100"/>
            <a:ext cx="173608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2563EB"/>
                </a:solidFill>
                <a:latin typeface="Inter"/>
              </a:rPr>
              <a:t>DAMPAK BISNIS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33500" y="3086100"/>
            <a:ext cx="9525000" cy="990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900"/>
              </a:lnSpc>
            </a:pPr>
            <a:r>
              <a:rPr b="1" sz="3000" i="0" u="none">
                <a:solidFill>
                  <a:srgbClr val="0F172A"/>
                </a:solidFill>
                <a:latin typeface="Plus Jakarta Sans"/>
              </a:rPr>
              <a:t>Peningkatan efisiensi biaya operasional tahunan.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65984" y="1447800"/>
            <a:ext cx="4060031" cy="1333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0500"/>
              </a:lnSpc>
            </a:pPr>
            <a:r>
              <a:rPr b="1" sz="10500" i="0" u="none">
                <a:solidFill>
                  <a:srgbClr val="0F172A"/>
                </a:solidFill>
                <a:latin typeface="Plus Jakarta Sans"/>
              </a:rPr>
              <a:t>40%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91200" y="4726185"/>
            <a:ext cx="609600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9750" y="2093565"/>
            <a:ext cx="952500" cy="76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70696" y="3160365"/>
            <a:ext cx="4850606" cy="6704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5280"/>
              </a:lnSpc>
            </a:pPr>
            <a:r>
              <a:rPr b="1" sz="4800" i="0" u="none">
                <a:solidFill>
                  <a:srgbClr val="F8FAFC"/>
                </a:solidFill>
                <a:latin typeface="Plus Jakarta Sans"/>
              </a:rPr>
              <a:t>Terima Kasih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18421" y="3983235"/>
            <a:ext cx="3155156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Inter"/>
              </a:rPr>
              <a:t>Sesi Diskusi &amp; Tanya Jawab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485900" y="1438275"/>
            <a:ext cx="9220200" cy="8191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85900" y="2257425"/>
            <a:ext cx="92202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85900" y="3028950"/>
            <a:ext cx="92202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485900" y="3800475"/>
            <a:ext cx="92202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85900" y="4572000"/>
            <a:ext cx="92202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485900" y="2247900"/>
            <a:ext cx="92202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485900" y="2247900"/>
            <a:ext cx="92202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485900" y="3019425"/>
            <a:ext cx="92202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485900" y="3019425"/>
            <a:ext cx="92202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485900" y="3790950"/>
            <a:ext cx="92202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485900" y="3790950"/>
            <a:ext cx="92202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485900" y="4562475"/>
            <a:ext cx="92202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485900" y="4562475"/>
            <a:ext cx="92202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485900" y="5334000"/>
            <a:ext cx="92202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485900" y="5334000"/>
            <a:ext cx="92202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5900" y="1604962"/>
            <a:ext cx="857250" cy="4762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5900" y="2400300"/>
            <a:ext cx="857250" cy="4762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5900" y="3171825"/>
            <a:ext cx="857250" cy="4762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5900" y="3943350"/>
            <a:ext cx="857250" cy="4762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85900" y="4714875"/>
            <a:ext cx="857250" cy="4762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85900" y="5486400"/>
            <a:ext cx="857250" cy="47625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71500" y="571500"/>
            <a:ext cx="1869569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00000"/>
                </a:solidFill>
                <a:latin typeface="Times New Roman"/>
              </a:rPr>
              <a:t>Image Sources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81275" y="1581150"/>
            <a:ext cx="82200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00000"/>
                </a:solidFill>
                <a:latin typeface="Times New Roman"/>
              </a:rPr>
              <a:t>https://media.istockphoto.com/id/1665910516/photo/cloud-and-edge-computing-technology-data-transfer-concept-a-large-cloud-icon-is-in-the-center.jpg?s=612x612&amp;w=0&amp;k=20&amp;c=v37ipYB5w6g47pk9bv1b0hcRJBuiyJ7X_WE2q8OEW8o=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81275" y="1933575"/>
            <a:ext cx="234218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00000"/>
                </a:solidFill>
                <a:latin typeface="Times New Roman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Times New Roman"/>
              </a:rPr>
              <a:t>www.istockphoto.com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81275" y="2452687"/>
            <a:ext cx="7890309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00000"/>
                </a:solidFill>
                <a:latin typeface="Times New Roman"/>
              </a:rPr>
              <a:t>https://images.stockcake.com/public/6/f/3/6f306994-3568-4ba3-804b-844a270b9566_large/server-room-hallway-stockcake.jpg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81275" y="2652712"/>
            <a:ext cx="1756171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00000"/>
                </a:solidFill>
                <a:latin typeface="Times New Roman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Times New Roman"/>
              </a:rPr>
              <a:t>stockcake.com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81275" y="3224212"/>
            <a:ext cx="573397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00000"/>
                </a:solidFill>
                <a:latin typeface="Times New Roman"/>
              </a:rPr>
              <a:t>https://www.tierpoint.com/wp-content/uploads/2024/07/Data-Center-Interconnection-01.png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81275" y="3424237"/>
            <a:ext cx="209866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00000"/>
                </a:solidFill>
                <a:latin typeface="Times New Roman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Times New Roman"/>
              </a:rPr>
              <a:t>www.tierpoint.com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81275" y="3995737"/>
            <a:ext cx="8211219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00000"/>
                </a:solidFill>
                <a:latin typeface="Times New Roman"/>
              </a:rPr>
              <a:t>https://www.smartsheet.com/sites/default/files/2025-07/IC-Business-Startup-Costs-with-Monthly-Overhead-Expenses-Template.png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81275" y="4195762"/>
            <a:ext cx="2267768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00000"/>
                </a:solidFill>
                <a:latin typeface="Times New Roman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Times New Roman"/>
              </a:rPr>
              <a:t>www.smartsheet.com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81275" y="4767262"/>
            <a:ext cx="763767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00000"/>
                </a:solidFill>
                <a:latin typeface="Times New Roman"/>
              </a:rPr>
              <a:t>https://cdn.dribbble.com/userupload/44827359/file/6ef4f7671ed3750b86aacffe1a82a180.png?resize=752x&amp;vertical=center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81275" y="4967287"/>
            <a:ext cx="164008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00000"/>
                </a:solidFill>
                <a:latin typeface="Times New Roman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Times New Roman"/>
              </a:rPr>
              <a:t>dribbble.com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81275" y="5538787"/>
            <a:ext cx="6935204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00000"/>
                </a:solidFill>
                <a:latin typeface="Times New Roman"/>
              </a:rPr>
              <a:t>https://as1.ftcdn.net/v2/jpg/05/10/79/80/1000_F_510798008_SD61qV3QmB4mc1shsKW32mxUq8LEPogu.jpg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81275" y="5738812"/>
            <a:ext cx="1823516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00000"/>
                </a:solidFill>
                <a:latin typeface="Times New Roman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Times New Roman"/>
              </a:rPr>
              <a:t>www.posters.es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