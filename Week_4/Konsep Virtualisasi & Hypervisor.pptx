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10.xml" ContentType="application/vnd.openxmlformats-officedocument.presentationml.slide+xml"/>
  <ns0:Override PartName="/ppt/slides/slide11.xml" ContentType="application/vnd.openxmlformats-officedocument.presentationml.slide+xml"/>
  <ns0:Override PartName="/ppt/slides/slide12.xml" ContentType="application/vnd.openxmlformats-officedocument.presentationml.slide+xml"/>
  <ns0:Override PartName="/ppt/slides/slide13.xml" ContentType="application/vnd.openxmlformats-officedocument.presentationml.slide+xml"/>
  <ns0:Override PartName="/ppt/slides/slide14.xml" ContentType="application/vnd.openxmlformats-officedocument.presentationml.slide+xml"/>
  <ns0:Override PartName="/ppt/slides/slide15.xml" ContentType="application/vnd.openxmlformats-officedocument.presentationml.slide+xml"/>
  <ns0:Override PartName="/ppt/slides/slide16.xml" ContentType="application/vnd.openxmlformats-officedocument.presentationml.slide+xml"/>
  <ns0:Override PartName="/ppt/slides/slide17.xml" ContentType="application/vnd.openxmlformats-officedocument.presentationml.slide+xml"/>
  <ns0:Override PartName="/ppt/slides/slide18.xml" ContentType="application/vnd.openxmlformats-officedocument.presentationml.slide+xml"/>
  <ns0:Override PartName="/ppt/slides/slide19.xml" ContentType="application/vnd.openxmlformats-officedocument.presentationml.slide+xml"/>
  <ns0:Override PartName="/ppt/slides/slide2.xml" ContentType="application/vnd.openxmlformats-officedocument.presentationml.slide+xml"/>
  <ns0:Override PartName="/ppt/slides/slide20.xml" ContentType="application/vnd.openxmlformats-officedocument.presentationml.slide+xml"/>
  <ns0:Override PartName="/ppt/slides/slide21.xml" ContentType="application/vnd.openxmlformats-officedocument.presentationml.slide+xml"/>
  <ns0:Override PartName="/ppt/slides/slide22.xml" ContentType="application/vnd.openxmlformats-officedocument.presentationml.slide+xml"/>
  <ns0:Override PartName="/ppt/slides/slide23.xml" ContentType="application/vnd.openxmlformats-officedocument.presentationml.slide+xml"/>
  <ns0:Override PartName="/ppt/slides/slide24.xml" ContentType="application/vnd.openxmlformats-officedocument.presentationml.slide+xml"/>
  <ns0:Override PartName="/ppt/slides/slide25.xml" ContentType="application/vnd.openxmlformats-officedocument.presentationml.slide+xml"/>
  <ns0:Override PartName="/ppt/slides/slide26.xml" ContentType="application/vnd.openxmlformats-officedocument.presentationml.slide+xml"/>
  <ns0:Override PartName="/ppt/slides/slide27.xml" ContentType="application/vnd.openxmlformats-officedocument.presentationml.slide+xml"/>
  <ns0:Override PartName="/ppt/slides/slide28.xml" ContentType="application/vnd.openxmlformats-officedocument.presentationml.slide+xml"/>
  <ns0:Override PartName="/ppt/slides/slide29.xml" ContentType="application/vnd.openxmlformats-officedocument.presentationml.slide+xml"/>
  <ns0:Override PartName="/ppt/slides/slide3.xml" ContentType="application/vnd.openxmlformats-officedocument.presentationml.slide+xml"/>
  <ns0:Override PartName="/ppt/slides/slide30.xml" ContentType="application/vnd.openxmlformats-officedocument.presentationml.slide+xml"/>
  <ns0:Override PartName="/ppt/slides/slide31.xml" ContentType="application/vnd.openxmlformats-officedocument.presentationml.slide+xml"/>
  <ns0:Override PartName="/ppt/slides/slide32.xml" ContentType="application/vnd.openxmlformats-officedocument.presentationml.slide+xml"/>
  <ns0:Override PartName="/ppt/slides/slide33.xml" ContentType="application/vnd.openxmlformats-officedocument.presentationml.slide+xml"/>
  <ns0:Override PartName="/ppt/slides/slide34.xml" ContentType="application/vnd.openxmlformats-officedocument.presentationml.slide+xml"/>
  <ns0:Override PartName="/ppt/slides/slide35.xml" ContentType="application/vnd.openxmlformats-officedocument.presentationml.slide+xml"/>
  <ns0:Override PartName="/ppt/slides/slide36.xml" ContentType="application/vnd.openxmlformats-officedocument.presentationml.slide+xml"/>
  <ns0:Override PartName="/ppt/slides/slide37.xml" ContentType="application/vnd.openxmlformats-officedocument.presentationml.slide+xml"/>
  <ns0:Override PartName="/ppt/slides/slide38.xml" ContentType="application/vnd.openxmlformats-officedocument.presentationml.slide+xml"/>
  <ns0:Override PartName="/ppt/slides/slide39.xml" ContentType="application/vnd.openxmlformats-officedocument.presentationml.slide+xml"/>
  <ns0:Override PartName="/ppt/slides/slide4.xml" ContentType="application/vnd.openxmlformats-officedocument.presentationml.slide+xml"/>
  <ns0:Override PartName="/ppt/slides/slide40.xml" ContentType="application/vnd.openxmlformats-officedocument.presentationml.slide+xml"/>
  <ns0:Override PartName="/ppt/slides/slide41.xml" ContentType="application/vnd.openxmlformats-officedocument.presentationml.slide+xml"/>
  <ns0:Override PartName="/ppt/slides/slide42.xml" ContentType="application/vnd.openxmlformats-officedocument.presentationml.slide+xml"/>
  <ns0:Override PartName="/ppt/slides/slide43.xml" ContentType="application/vnd.openxmlformats-officedocument.presentationml.slide+xml"/>
  <ns0:Override PartName="/ppt/slides/slide44.xml" ContentType="application/vnd.openxmlformats-officedocument.presentationml.slide+xml"/>
  <ns0:Override PartName="/ppt/slides/slide45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slides/slide7.xml" ContentType="application/vnd.openxmlformats-officedocument.presentationml.slide+xml"/>
  <ns0:Override PartName="/ppt/slides/slide8.xml" ContentType="application/vnd.openxmlformats-officedocument.presentationml.slide+xml"/>
  <ns0:Override PartName="/ppt/slides/slide9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  <ns0:sldId id="262" ns1:id="rId13"/>
    <ns0:sldId id="263" ns1:id="rId14"/>
    <ns0:sldId id="264" ns1:id="rId15"/>
    <ns0:sldId id="265" ns1:id="rId16"/>
    <ns0:sldId id="266" ns1:id="rId17"/>
    <ns0:sldId id="267" ns1:id="rId18"/>
    <ns0:sldId id="268" ns1:id="rId19"/>
    <ns0:sldId id="269" ns1:id="rId20"/>
    <ns0:sldId id="270" ns1:id="rId21"/>
    <ns0:sldId id="271" ns1:id="rId22"/>
    <ns0:sldId id="272" ns1:id="rId23"/>
    <ns0:sldId id="273" ns1:id="rId24"/>
    <ns0:sldId id="274" ns1:id="rId25"/>
    <ns0:sldId id="275" ns1:id="rId26"/>
    <ns0:sldId id="276" ns1:id="rId27"/>
    <ns0:sldId id="277" ns1:id="rId28"/>
    <ns0:sldId id="278" ns1:id="rId29"/>
    <ns0:sldId id="279" ns1:id="rId30"/>
    <ns0:sldId id="280" ns1:id="rId31"/>
    <ns0:sldId id="281" ns1:id="rId32"/>
    <ns0:sldId id="282" ns1:id="rId33"/>
    <ns0:sldId id="283" ns1:id="rId34"/>
    <ns0:sldId id="284" ns1:id="rId35"/>
    <ns0:sldId id="285" ns1:id="rId36"/>
    <ns0:sldId id="286" ns1:id="rId37"/>
    <ns0:sldId id="287" ns1:id="rId38"/>
    <ns0:sldId id="288" ns1:id="rId39"/>
    <ns0:sldId id="289" ns1:id="rId40"/>
    <ns0:sldId id="290" ns1:id="rId41"/>
    <ns0:sldId id="291" ns1:id="rId42"/>
    <ns0:sldId id="292" ns1:id="rId43"/>
    <ns0:sldId id="293" ns1:id="rId44"/>
    <ns0:sldId id="294" ns1:id="rId45"/>
    <ns0:sldId id="295" ns1:id="rId46"/>
    <ns0:sldId id="296" ns1:id="rId47"/>
    <ns0:sldId id="297" ns1:id="rId48"/>
    <ns0:sldId id="298" ns1:id="rId49"/>
    <ns0:sldId id="299" ns1:id="rId50"/>
    <ns0:sldId id="300" ns1:id="rId51"/>
  </ns0:sldIdLst>
  <ns0:sldSz cx="12192000" cy="6858000" type="screen4x3"/>
  <ns0:notesSz cx="6858000" cy="9144000"/>
  <ns0:embeddedFontLst>
    <ns0:embeddedFont>
      <ns0:font typeface="Plus Jakarta Sans"/>
      <ns0:bold ns1:id="rIdFont52"/>
      <ns0:regular ns1:id="rIdFont53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13" Type="http://schemas.openxmlformats.org/officeDocument/2006/relationships/slide" Target="slides/slide7.xml" /><ns0:Relationship Id="rId14" Type="http://schemas.openxmlformats.org/officeDocument/2006/relationships/slide" Target="slides/slide8.xml" /><ns0:Relationship Id="rId15" Type="http://schemas.openxmlformats.org/officeDocument/2006/relationships/slide" Target="slides/slide9.xml" /><ns0:Relationship Id="rId16" Type="http://schemas.openxmlformats.org/officeDocument/2006/relationships/slide" Target="slides/slide10.xml" /><ns0:Relationship Id="rId17" Type="http://schemas.openxmlformats.org/officeDocument/2006/relationships/slide" Target="slides/slide11.xml" /><ns0:Relationship Id="rId18" Type="http://schemas.openxmlformats.org/officeDocument/2006/relationships/slide" Target="slides/slide12.xml" /><ns0:Relationship Id="rId19" Type="http://schemas.openxmlformats.org/officeDocument/2006/relationships/slide" Target="slides/slide13.xml" /><ns0:Relationship Id="rId20" Type="http://schemas.openxmlformats.org/officeDocument/2006/relationships/slide" Target="slides/slide14.xml" /><ns0:Relationship Id="rId21" Type="http://schemas.openxmlformats.org/officeDocument/2006/relationships/slide" Target="slides/slide15.xml" /><ns0:Relationship Id="rId22" Type="http://schemas.openxmlformats.org/officeDocument/2006/relationships/slide" Target="slides/slide16.xml" /><ns0:Relationship Id="rId23" Type="http://schemas.openxmlformats.org/officeDocument/2006/relationships/slide" Target="slides/slide17.xml" /><ns0:Relationship Id="rId24" Type="http://schemas.openxmlformats.org/officeDocument/2006/relationships/slide" Target="slides/slide18.xml" /><ns0:Relationship Id="rId25" Type="http://schemas.openxmlformats.org/officeDocument/2006/relationships/slide" Target="slides/slide19.xml" /><ns0:Relationship Id="rId26" Type="http://schemas.openxmlformats.org/officeDocument/2006/relationships/slide" Target="slides/slide20.xml" /><ns0:Relationship Id="rId27" Type="http://schemas.openxmlformats.org/officeDocument/2006/relationships/slide" Target="slides/slide21.xml" /><ns0:Relationship Id="rId28" Type="http://schemas.openxmlformats.org/officeDocument/2006/relationships/slide" Target="slides/slide22.xml" /><ns0:Relationship Id="rId29" Type="http://schemas.openxmlformats.org/officeDocument/2006/relationships/slide" Target="slides/slide23.xml" /><ns0:Relationship Id="rId30" Type="http://schemas.openxmlformats.org/officeDocument/2006/relationships/slide" Target="slides/slide24.xml" /><ns0:Relationship Id="rId31" Type="http://schemas.openxmlformats.org/officeDocument/2006/relationships/slide" Target="slides/slide25.xml" /><ns0:Relationship Id="rId32" Type="http://schemas.openxmlformats.org/officeDocument/2006/relationships/slide" Target="slides/slide26.xml" /><ns0:Relationship Id="rId33" Type="http://schemas.openxmlformats.org/officeDocument/2006/relationships/slide" Target="slides/slide27.xml" /><ns0:Relationship Id="rId34" Type="http://schemas.openxmlformats.org/officeDocument/2006/relationships/slide" Target="slides/slide28.xml" /><ns0:Relationship Id="rId35" Type="http://schemas.openxmlformats.org/officeDocument/2006/relationships/slide" Target="slides/slide29.xml" /><ns0:Relationship Id="rId36" Type="http://schemas.openxmlformats.org/officeDocument/2006/relationships/slide" Target="slides/slide30.xml" /><ns0:Relationship Id="rId37" Type="http://schemas.openxmlformats.org/officeDocument/2006/relationships/slide" Target="slides/slide31.xml" /><ns0:Relationship Id="rId38" Type="http://schemas.openxmlformats.org/officeDocument/2006/relationships/slide" Target="slides/slide32.xml" /><ns0:Relationship Id="rId39" Type="http://schemas.openxmlformats.org/officeDocument/2006/relationships/slide" Target="slides/slide33.xml" /><ns0:Relationship Id="rId40" Type="http://schemas.openxmlformats.org/officeDocument/2006/relationships/slide" Target="slides/slide34.xml" /><ns0:Relationship Id="rId41" Type="http://schemas.openxmlformats.org/officeDocument/2006/relationships/slide" Target="slides/slide35.xml" /><ns0:Relationship Id="rId42" Type="http://schemas.openxmlformats.org/officeDocument/2006/relationships/slide" Target="slides/slide36.xml" /><ns0:Relationship Id="rId43" Type="http://schemas.openxmlformats.org/officeDocument/2006/relationships/slide" Target="slides/slide37.xml" /><ns0:Relationship Id="rId44" Type="http://schemas.openxmlformats.org/officeDocument/2006/relationships/slide" Target="slides/slide38.xml" /><ns0:Relationship Id="rId45" Type="http://schemas.openxmlformats.org/officeDocument/2006/relationships/slide" Target="slides/slide39.xml" /><ns0:Relationship Id="rId46" Type="http://schemas.openxmlformats.org/officeDocument/2006/relationships/slide" Target="slides/slide40.xml" /><ns0:Relationship Id="rId47" Type="http://schemas.openxmlformats.org/officeDocument/2006/relationships/slide" Target="slides/slide41.xml" /><ns0:Relationship Id="rId48" Type="http://schemas.openxmlformats.org/officeDocument/2006/relationships/slide" Target="slides/slide42.xml" /><ns0:Relationship Id="rId49" Type="http://schemas.openxmlformats.org/officeDocument/2006/relationships/slide" Target="slides/slide43.xml" /><ns0:Relationship Id="rId50" Type="http://schemas.openxmlformats.org/officeDocument/2006/relationships/slide" Target="slides/slide44.xml" /><ns0:Relationship Id="rId51" Type="http://schemas.openxmlformats.org/officeDocument/2006/relationships/slide" Target="slides/slide45.xml" /><ns0:Relationship Id="rIdFont52" Type="http://schemas.openxmlformats.org/officeDocument/2006/relationships/font" Target="fonts/c1bdebd4-6885-4a20-bfea-8035eacfc1fe.fntdata" /><ns0:Relationship Id="rIdFont53" Type="http://schemas.openxmlformats.org/officeDocument/2006/relationships/font" Target="fonts/81e9234e-de80-4595-99af-6ee240cef1d7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4542383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09600" y="2277516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38BDF8"/>
                </a:solidFill>
                <a:latin typeface="Plus Jakarta Sans"/>
              </a:rPr>
              <a:t>MODUL PEMBELAJARAN INFRASTRUKTUR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601366"/>
            <a:ext cx="9101137" cy="1188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680"/>
              </a:lnSpc>
            </a:pPr>
            <a:r>
              <a:rPr b="1" sz="3900" i="0" u="none">
                <a:solidFill>
                  <a:srgbClr val="FFFFFF"/>
                </a:solidFill>
                <a:latin typeface="Plus Jakarta Sans"/>
              </a:rPr>
              <a:t>Konsep Hypervisor, Isolasi Resource, &amp; VM vs Fisik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4018508"/>
            <a:ext cx="83343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Plus Jakarta Sans"/>
              </a:rPr>
              <a:t>Panduan komprehensif arsitektur virtualisasi server modern.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81337"/>
            <a:ext cx="3454449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68849" y="3081337"/>
            <a:ext cx="3454449" cy="1685925"/>
          </a:xfrm>
          <a:prstGeom prst="roundRect">
            <a:avLst>
              <a:gd name="adj" fmla="val 677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128099" y="2981325"/>
            <a:ext cx="3454449" cy="1885950"/>
          </a:xfrm>
          <a:prstGeom prst="roundRect">
            <a:avLst>
              <a:gd name="adj" fmla="val 60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AGENDA UTAMA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Cakupan Materi Pembelajaran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6137"/>
            <a:ext cx="2940099" cy="1076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73649" y="3386137"/>
            <a:ext cx="2940099" cy="10763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32899" y="3286125"/>
            <a:ext cx="2940099" cy="1276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1" sz="2700" i="0" u="none">
                <a:solidFill>
                  <a:srgbClr val="0284C7"/>
                </a:solidFill>
                <a:latin typeface="Plus Jakarta Sans"/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925" y="393858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Konsep Hypervisor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925" y="4252912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Type 1 Bare-Metal vs Type 2 Hosted.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83174" y="3938587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Isolasi Resource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3174" y="4252912"/>
            <a:ext cx="3532249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CPU, RAM, dan Network virtualization.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42424" y="3838575"/>
            <a:ext cx="3708861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VM vs Fisik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42424" y="4152900"/>
            <a:ext cx="2921049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Perbandingan performa, efisiensi, dan fleksibilitas.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8000"/>
            <a:ext cx="52959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86500" y="3048000"/>
            <a:ext cx="52959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Apa itu Virtualisasi?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00425"/>
            <a:ext cx="6025753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Abstraksi Perangkat Keras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781425"/>
            <a:ext cx="4686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Teknologi yang memungkinkan pembuatan lapisan abstrak di atas hardware fisik asli.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38925" y="3400425"/>
            <a:ext cx="55530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Plus Jakarta Sans"/>
              </a:rPr>
              <a:t>Multi-OS Independen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38925" y="3781425"/>
            <a:ext cx="46863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Menjalankan beberapa sistem operasi secara bersamaan pada satu mesin fisik tunggal.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961382"/>
            <a:ext cx="10972800" cy="177343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961382"/>
            <a:ext cx="57150" cy="177343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Definisi Hypervisor (Virtual Machine Monitor)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342382"/>
            <a:ext cx="10248900" cy="639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"Perangkat lunak atau firmware yang menciptakan, menjalankan, dan mengelola Virtual Machine (VM)."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4134742"/>
            <a:ext cx="11144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Bertindak sebagai pengawas resource fisik agar dapat dibagi secara adil dan terisolasi.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Fungsi Utama Hypervisor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Virtualisasi CPU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Mengatur penjadwalan eksekusi instruksi VM ke CPU fisik.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Virtualisasi Memori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Memetakan RAM fisik ke RAM virtual milik masing-masing VM.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Manajemen I/O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Menghandle akses storage dan network antar VM secara aman.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48000"/>
            <a:ext cx="53340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48000"/>
            <a:ext cx="5334000" cy="1600200"/>
          </a:xfrm>
          <a:prstGeom prst="roundRect">
            <a:avLst>
              <a:gd name="adj" fmla="val 7142"/>
            </a:avLst>
          </a:prstGeom>
          <a:solidFill>
            <a:srgbClr val="F8FAFC"/>
          </a:solidFill>
          <a:ln w="9525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Dua Jenis Klasifikasi Hypervisor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00425"/>
            <a:ext cx="6075759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Type 1: Bare-Metal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781425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Berjalan langsung di atas hardware fisik tanpa OS perantara. Performa tinggi untuk enterprise.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00425"/>
            <a:ext cx="5591175" cy="2667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284C7"/>
                </a:solidFill>
                <a:latin typeface="Plus Jakarta Sans"/>
              </a:rPr>
              <a:t>Type 2: Hosted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781425"/>
            <a:ext cx="4724400" cy="5143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Berjalan di atas sistem operasi host yang sudah ada. Ideal untuk testing dan pengembangan.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242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242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242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Hypervisor Type 1 (Bare-Metal)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004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Arsitektur Langsung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957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Hypervisor terinstall langsung di atas CPU, RAM, dan Motherboard.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004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Efisiensi Maksimal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957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Tidak ada overhead dari OS general-purpose.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004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Standar Industri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957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Digunakan luas pada data center dan cloud provider.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Contoh Populer Hypervisor Type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VMware ESXi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Solusi enterprise terkemuka dengan fitur manajemen tingkat lanjut.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KVM (Kernel-based VM)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Modul kernel Linux yang mengubah OS Linux menjadi hypervisor Type 1.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Microsoft Hyper-V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Hypervisor native dari Microsoft untuk infrastruktur Windows Server.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Kelebihan Utama Hypervisor Type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Performa Tinggi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Akses langsung ke hardware tanpa hambatan lapisan 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Skalabilitas Enterprise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Mendukung ratusan VM dan resource hardware masif.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Keamanan &amp; Isolasi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Attack surface lebih kecil karena minimnya aplikasi pihak ketiga.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7537"/>
            <a:ext cx="53340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57537"/>
            <a:ext cx="53340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Kekurangan Hypervisor Type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509962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Kompleksitas Manajemen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862387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Membutuhkan perangkat tambahan (seperti vCenter) untuk manajemen tingkat lanjut.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509962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Dukungan Hardware Khusus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862387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Sangat bergantung pada kompatibilitas driver perangkat keras tertentu.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242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242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242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Hypervisor Type 2 (Hosted)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004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Berjalan di Atas 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957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Diinstall sebagai aplikasi biasa di dalam OS Host (Windows, macOS, Linux).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004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Kemudahan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957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Sangat mudah diinstal dan dijalankan layaknya software desktop.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004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Penggunaan Personal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957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Ideal untuk developer, testing aplikasi, dan eksperimen.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Contoh Populer Hypervisor Type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Oracle VirtualBox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Software virtualisasi hosted gratis dan open-source yang sangat populer.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VMware Workstation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Solusi profesional hosted untuk platform Windows dan Linux.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Apple Hypervisor / UTM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Pilihan virtualisasi hosted untuk ekosistem macOS.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7537"/>
            <a:ext cx="53340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57537"/>
            <a:ext cx="53340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Kelebihan Hypervisor Type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509962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Kemudahan Instalasi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862387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Dapat diinstal langsung seperti aplikasi biasa tanpa konfigurasi BIOS khusus.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509962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Fleksibilitas OS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862387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Mendukung beragam perangkat peripheral dan driver bawaan OS host.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7537"/>
            <a:ext cx="53340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57537"/>
            <a:ext cx="53340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Kekurangan Hypervisor Type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509962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Overhead Performa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862387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Permintaan resource harus melalui OS host terlebih dahulu, menimbulkan latensi.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509962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Ketergantungan OS Host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862387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Jika OS host mengalami crash atau update, seluruh VM ikut terganggu.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8925"/>
            <a:ext cx="10972800" cy="2038350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828925"/>
          <a:ext cx="10972798" cy="20383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113954"/>
                <a:gridCol w="4530030"/>
                <a:gridCol w="4328814"/>
              </a:tblGrid>
              <a:tr h="5095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Type 1 (Bare-Metal)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Type 2 (Hosted)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</a:tr>
              <a:tr h="5095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Instalasi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Langsung di atas Hardware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Di atas OS Host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095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Performa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Sangat Tinggi / Maksimal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Lebih Rendah (Ada Overhead)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095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Penggunaan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Data Center &amp; Cloud Enterprise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Desktop &amp; Testing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Tabel Perbandingan Type 1 vs Type 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362325"/>
            <a:ext cx="537210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362325"/>
            <a:ext cx="537210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1: KONSEP HYPERVISOR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Kesimpulan Konsep Hypervisor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638550"/>
            <a:ext cx="632579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Pilih Type 1 untuk Produksi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933825"/>
            <a:ext cx="6024562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Keandalan, performa, dan skalabilitas untuk skala besar.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638550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Pilih Type 2 untuk Pengembangan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3933825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Kemudahan akses dan fleksibilitas di komputer lokal.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78472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102322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Isolasi Resource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841402"/>
            <a:ext cx="11582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Mekanisme pembagian CPU, RAM, dan Network secara aman dan terstruktur.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121372"/>
            <a:ext cx="10972800" cy="145345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121372"/>
            <a:ext cx="57150" cy="145345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2: ISOLASI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Mengapa Isolasi Diperlukan?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502372"/>
            <a:ext cx="111442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Mencegah satu VM memonopoli seluruh kapasitas hardware fisik.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974752"/>
            <a:ext cx="11144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Memastikan keamanan data dan stabilitas performa antar virtual machine yang berjalan bersamaan.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08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908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2: ISOLASI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Virtualisasi &amp; Isolasi CPU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43287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vCPU (Virtual CPU)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7957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Hypervisor memetakan core fisik ke core virtual yang diberikan ke setiap VM.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43287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Time-Sharing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7957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CPU fisik bergantian mengeksekusi instruksi dari berbagai VM dalam milidetik.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6230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6230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230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2: ISOLASI RESOURCE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Mekanisme Lanjutan CPU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385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CPU Pinning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338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Mengikat vCPU tertentu secara eksklusif ke core fisik tertentu untuk performa tinggi.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385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Resource Limiting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338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Membatasi persentase penggunaan CPU maksimum untuk mencegah monopoli.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3852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Shares &amp; Priority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338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Menentukan prioritas VM mana yang mendapat jatah CPU lebih dulu saat beban tinggi.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08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908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2: ISOLASI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Virtualisasi &amp; Isolasi RAM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43287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Alokasi Memori Statis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7957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Menetapkan jumlah RAM pasti (misal 8GB) yang tidak bisa direbut oleh VM lain.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43287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Memory Overcommitment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7957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Mengalokasikan total RAM virtual lebih besar daripada RAM fisik yang tersedia.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6230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2: ISOLASI RESOURCE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Teknologi Efisiensi Memori 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Memory Page Sharing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Menggabungkan blok memori identik antar VM untuk menghemat RAM fisik.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385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Ballooning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338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Driver khusus meminjam memori idle dari suatu VM untuk diberikan ke VM yang membutuhkan.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Memory Compression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Mengompresi halaman memori yang jarang diakses sebelum di-swap ke disk.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08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908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2: ISOLASI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Virtualisasi &amp; Isolasi Jaringan (Network)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43287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vNIC (Virtual Network Interface)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7957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Setiap VM memiliki kartu jaringan virtual sendiri yang terhubung ke virtual switch.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43287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Virtual Switch (vSwitch)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7957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Mengatur lalu lintas data antar VM dan menghubungkannya ke jaringan fisik.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6230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6230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2: ISOLASI RESOURCE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Mode Koneksi Jaringan pada 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4385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Bridged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7338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VM mendapat IP langsung dari jaringan fisik luar, seolah menjadi komputer mandiri.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385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NAT Mode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338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VM berbagi IP dengan OS host, aman untuk akses internet keluar tapi terisolasi dari luar.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Host-Only Mode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Jaringan internal tertutup hanya antara VM dan host, tanpa akses internet.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121372"/>
            <a:ext cx="10972800" cy="145345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121372"/>
            <a:ext cx="57150" cy="145345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2: ISOLASI RESOURCE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Keamanan &amp; Batas Isolasi Resource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502372"/>
            <a:ext cx="111442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Sandboxing Penuh antar VM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974752"/>
            <a:ext cx="11144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Jika satu VM terinfeksi malware atau mengalami kernel panic, VM lain tetap berjalan aman tanpa terpengaruh.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2: ISOLASI RESOURCE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Kesimpulan Isolasi Resource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CPU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Pembagian waktu eksekusi yang adil melalui vCPU.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Memory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Teknik alokasi dan overcommitment pintar.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Network Segmentation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Kontrol lalu lintas via vSwitch dan mode jaringan.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2778472"/>
            <a:ext cx="11582400" cy="1714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Plus Jakarta Sans"/>
              </a:rPr>
              <a:t>BAGIAN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3102322"/>
            <a:ext cx="11582400" cy="5485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1" sz="3600" i="0" u="none">
                <a:solidFill>
                  <a:srgbClr val="0F172A"/>
                </a:solidFill>
                <a:latin typeface="Plus Jakarta Sans"/>
              </a:rPr>
              <a:t>Virtual Machine (VM) vs Server Fisik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3841402"/>
            <a:ext cx="11582400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500" i="0" u="none">
                <a:solidFill>
                  <a:srgbClr val="475569"/>
                </a:solidFill>
                <a:latin typeface="Plus Jakarta Sans"/>
              </a:rPr>
              <a:t>Analisis perbandingan mendalam antara infrastruktur tradisional dan modern.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05162"/>
            <a:ext cx="533400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908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Infrastruktur Fisik (Bare-Metal Traditional)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557587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Satu OS per Hardware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910012"/>
            <a:ext cx="5786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Sistem operasi diinstal langsung di atas komponen fisik server.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43287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Potensi Underutilized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7957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Seringkali utilisasi CPU/RAM sangat rendah (di bawah 15%) karena satu server hanya menjalankan satu aplikasi.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6230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Kelebihan Server Fisik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Performa Mentah Tanpa Kompromi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Akses penuh ke seluruh resource hardware tanpa ada lapisan hypervisor.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385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Ideal untuk Beban Kerja Berat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338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Sangat cocok untuk database skala masif atau komputasi high-performance (HPC).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Tidak Ada Virtualization Overhead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Efisiensi eksekusi instruksi CPU secara langsung.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7537"/>
            <a:ext cx="53340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57537"/>
            <a:ext cx="53340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Kekurangan Server Fisik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509962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Biaya Tinggi (CapEx &amp; OpEx)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862387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Memerlukan banyak hardware fisik, ruang rak server, listrik, dan pendingin.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509962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Kurang Fleksibel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862387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Proses provisioning server baru memakan waktu berhari-hari atau berminggu-minggu.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121372"/>
            <a:ext cx="10972800" cy="145345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121372"/>
            <a:ext cx="57150" cy="145345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Virtual Machine (VM)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502372"/>
            <a:ext cx="111442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"File komputer atau instance yang bertindak seperti komputer nyata."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974752"/>
            <a:ext cx="11144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Memiliki CPU virtual, memori, disk, dan sistem operasi sendiri yang berjalan di atas hypervisor.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6230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Kelebihan Virtual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Konsolidasi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Menjalankan puluhan VM pada satu server fisik hemat ruang dan energi.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385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Snapshot &amp; Backup Cepat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338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Menyimpan kondisi VM saat ini dan memulihkannya dengan mudah dalam hitungan detik.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Portabilitas Tinggi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VM dapat dipindah antar server fisik (Live Migration) tanpa downtime.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57537"/>
            <a:ext cx="53340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57537"/>
            <a:ext cx="5334000" cy="1457325"/>
          </a:xfrm>
          <a:prstGeom prst="roundRect">
            <a:avLst>
              <a:gd name="adj" fmla="val 7843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Kekurangan Virtual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509962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Overhead Performa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862387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Adanya lapisan hypervisor membuat akses hardware tidak secepat server fisik murni.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509962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Konsumsi Resource Guest 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862387"/>
            <a:ext cx="47244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Setiap VM menjalankan OS lengkap yang membutuhkan RAM dan storage tersendiri.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828925"/>
            <a:ext cx="10972800" cy="2038350"/>
          </a:xfrm>
          <a:prstGeom prst="roundRect">
            <a:avLst>
              <a:gd name="adj" fmla="val 0"/>
            </a:avLst>
          </a:prstGeom>
          <a:solidFill>
            <a:srgbClr val="F8FA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828925"/>
          <a:ext cx="10972798" cy="2038350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020317"/>
                <a:gridCol w="4225230"/>
                <a:gridCol w="3727251"/>
              </a:tblGrid>
              <a:tr h="5095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Kriteria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Server Fisik (Bare-Metal)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FFFFFF"/>
                          </a:solidFill>
                          <a:latin typeface="Plus Jakarta Sans"/>
                        </a:rPr>
                        <a:t>Virtual Machine (VM)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284C7"/>
                    </a:solidFill>
                  </a:tcPr>
                </a:tc>
              </a:tr>
              <a:tr h="5095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Deployment Time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Berhari-hari / Berminggu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Hitungan Menit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09587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Efisiensi Biaya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Tinggi (Perangkat keras mahal)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Hemat (Konsolidasi tinggi)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509589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0F172A"/>
                          </a:solidFill>
                          <a:latin typeface="Plus Jakarta Sans"/>
                        </a:rPr>
                        <a:t>Backup &amp; Pemulihan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Kompleks / Manual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475569"/>
                          </a:solidFill>
                          <a:latin typeface="Plus Jakarta Sans"/>
                        </a:rPr>
                        <a:t>Instan via Snapshot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Tabel Perbandingan: VM vs Server Fisik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05162"/>
            <a:ext cx="5334000" cy="1285875"/>
          </a:xfrm>
          <a:prstGeom prst="roundRect">
            <a:avLst>
              <a:gd name="adj" fmla="val 8888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908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Analisis Finansial: Konsolidasi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557587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Tradisional (1 Server = 1 Aplikasi)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910012"/>
            <a:ext cx="5786437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Boros tempat, listrik, dan biaya lisensi OS berlipat-lipat.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43287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284C7"/>
                </a:solidFill>
                <a:latin typeface="Plus Jakarta Sans"/>
              </a:rPr>
              <a:t>Virtualisasi (1 Server = Banyak VM)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7957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Memaksimalkan kapasitas hardware hingga 80-90%, menekan biaya operasional drastis.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16230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162300"/>
            <a:ext cx="3505200" cy="1447800"/>
          </a:xfrm>
          <a:prstGeom prst="roundRect">
            <a:avLst>
              <a:gd name="adj" fmla="val 7894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Skalabilitas dan Kelincahan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Penambahan RAM/CPU Instan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Hot-add resource pada VM dapat dilakukan tanpa mematikan mesin.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438525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Template &amp; Cloning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7338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Membuat server baru identik dalam hitungan menit menggunakan master template.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438525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High Availability (HA)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733800"/>
            <a:ext cx="3048000" cy="6000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Jika server fisik mati, VM otomatis berpindah dan menyala di server fisik lain.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819400"/>
            <a:ext cx="10972800" cy="205725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819400"/>
            <a:ext cx="57150" cy="205725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Rekomendasi Penggunaan Server Fisik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200400"/>
            <a:ext cx="111442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Gunakan Bare-Metal Fisik Ketika: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672780"/>
            <a:ext cx="102489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1. Aplikasi membutuhkan performa I/O dan CPU mutlak tanpa toleransi latensi.</a:t>
            </a:r>
            <a:r>
              <a:t>
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2. Kepatuhan regulasi ketat yang melarang pembagian hardware dengan entitas lain.</a:t>
            </a:r>
            <a:r>
              <a:t>
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3. Beban database transaksional sangat besar (Ultra-high throughput).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2819400"/>
            <a:ext cx="10972800" cy="2057251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2819400"/>
            <a:ext cx="57150" cy="2057251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Rekomendasi Penggunaan Virtual Machine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200400"/>
            <a:ext cx="111442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Gunakan Virtual Machine Ketika: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672780"/>
            <a:ext cx="10248900" cy="8228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475569"/>
                </a:solidFill>
                <a:latin typeface="Plus Jakarta Sans"/>
              </a:rPr>
              <a:t>1. Membangun lingkungan pengembangan, staging, dan testing aplikasi.</a:t>
            </a:r>
            <a:r>
              <a:t>
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2. Konsolidasi berbagai server web, mail, dan aplikasi ringan ke sedikit hardware.</a:t>
            </a:r>
            <a:r>
              <a:t>
</a:t>
            </a:r>
            <a:r>
              <a:rPr b="0" sz="1350" i="0" u="none">
                <a:solidFill>
                  <a:srgbClr val="475569"/>
                </a:solidFill>
                <a:latin typeface="Plus Jakarta Sans"/>
              </a:rPr>
              <a:t> 3. Membutuhkan disaster recovery dan manajemen backup yang cepat serta fleksibel.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0908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0908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WAWASAN TAMBAHAN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Evolusi: VM vs Container (Docker)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43287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Virtual Machine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7957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Virtualisasi level hardware. Setiap VM membawa OS Guest lengkap (ukuran GB).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43287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Container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7957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Virtualisasi level OS. Berbagi kernel OS host yang sama (ukuran MB), sangat ringan dan cepat.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53721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3362325"/>
            <a:ext cx="5372100" cy="1047750"/>
          </a:xfrm>
          <a:prstGeom prst="roundRect">
            <a:avLst>
              <a:gd name="adj" fmla="val 10909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BAGIAN 3: VM VS FISIK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Kesimpulan VM vs Server Fisik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85825" y="3538537"/>
            <a:ext cx="632579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Fisik untuk Performa Mentah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833812"/>
            <a:ext cx="49149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Prioritas utama pada kecepatan mutlak dan isolasi hardware penuh.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86525" y="3638550"/>
            <a:ext cx="57054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VM untuk Efisiensi &amp; Agilitas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86525" y="3933825"/>
            <a:ext cx="5705475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Standar modern pengelolaan data center dan fleksibilitas tinggi.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89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289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REVIEW KESELURUHAN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Poin Penting: Konsep Hypervisor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81387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Type 1 (Bare-Metal)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8338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ESXi, KVM, Hyper-V. Berjalan langsung di hardware, performa maksimal untuk server produksi.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81387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Type 2 (Hosted)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8338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VirtualBox, Workstation. Berjalan di atas OS host, ideal untuk development dan testing.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43434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077200" y="3262312"/>
            <a:ext cx="3505200" cy="1247775"/>
          </a:xfrm>
          <a:prstGeom prst="roundRect">
            <a:avLst>
              <a:gd name="adj" fmla="val 9160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REVIEW KESELURUHAN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Poin Penting: Isolasi Resource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58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CPU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58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Pembagian core fisik via vCPU dan time-sharing yang adil.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19625" y="3538537"/>
            <a:ext cx="3875484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Memory Management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96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Page sharing, ballooning, dan alokasi RAM terisolasi.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53425" y="3538537"/>
            <a:ext cx="3838575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Plus Jakarta Sans"/>
              </a:rPr>
              <a:t>Network Virtualization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53425" y="3833812"/>
            <a:ext cx="3048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475569"/>
                </a:solidFill>
                <a:latin typeface="Plus Jakarta Sans"/>
              </a:rPr>
              <a:t>vNIC dan vSwitch dengan mode Bridged, NAT, dan Host-Only.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31289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48400" y="3128962"/>
            <a:ext cx="5334000" cy="1514475"/>
          </a:xfrm>
          <a:prstGeom prst="roundRect">
            <a:avLst>
              <a:gd name="adj" fmla="val 7547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REVIEW KESELURUHAN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Poin Penting: VM vs Fisik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2025" y="3481387"/>
            <a:ext cx="6075759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Server Fisik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2025" y="38338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Performa tinggi mentah tanpa overhead, cocok untuk beban kerja sangat berat dan spesifik.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825" y="3481387"/>
            <a:ext cx="5591175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Plus Jakarta Sans"/>
              </a:rPr>
              <a:t>Virtual Machine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825" y="3833812"/>
            <a:ext cx="4724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0" sz="1200" i="0" u="none">
                <a:solidFill>
                  <a:srgbClr val="475569"/>
                </a:solidFill>
                <a:latin typeface="Plus Jakarta Sans"/>
              </a:rPr>
              <a:t>Konsolidasi server, snapshot cepat, migrasi mulus, dan efisiensi biaya operasional.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3121372"/>
            <a:ext cx="10972800" cy="1453455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00" y="3121372"/>
            <a:ext cx="57150" cy="145345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Plus Jakarta Sans"/>
              </a:rPr>
              <a:t>PENUTUP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Plus Jakarta Sans"/>
              </a:rPr>
              <a:t>Masa Depan Infrastruktur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47750" y="3502372"/>
            <a:ext cx="11144250" cy="31998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b="1" sz="1800" i="0" u="none">
                <a:solidFill>
                  <a:srgbClr val="0F172A"/>
                </a:solidFill>
                <a:latin typeface="Plus Jakarta Sans"/>
              </a:rPr>
              <a:t>Virtualisasi adalah fondasi komputasi awan (Cloud Computing) modern.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47750" y="3974752"/>
            <a:ext cx="11144250" cy="2190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475569"/>
                </a:solidFill>
                <a:latin typeface="Plus Jakarta Sans"/>
              </a:rPr>
              <a:t>Pemahaman mendalam tentang hypervisor dan isolasi resource adalah kunci utama arsitek infrastruktur handal.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810250" y="4048125"/>
            <a:ext cx="571500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64521" y="2771775"/>
            <a:ext cx="3662957" cy="581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1" sz="3600" i="0" u="none">
                <a:solidFill>
                  <a:srgbClr val="FFFFFF"/>
                </a:solidFill>
                <a:latin typeface="Plus Jakarta Sans"/>
              </a:rPr>
              <a:t>Terima Kasih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31531" y="3505200"/>
            <a:ext cx="2928937" cy="2381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/>
            <a:r>
              <a:rPr b="0" sz="1500" i="0" u="none">
                <a:solidFill>
                  <a:srgbClr val="94A3B8"/>
                </a:solidFill>
                <a:latin typeface="Plus Jakarta Sans"/>
              </a:rPr>
              <a:t>Sesi Tanya Jawab &amp; Diskusi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