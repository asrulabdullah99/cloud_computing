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embeddedFontLst>
    <p:embeddedFont>
      <p:font typeface="Calibri" panose="020F0502020204030204" pitchFamily="34" charset="0"/>
      <p:regular r:id="rId33"/>
      <p:bold r:id="rId34"/>
      <p:italic r:id="rId35"/>
      <p:boldItalic r:id="rId36"/>
    </p:embeddedFont>
    <p:embeddedFont>
      <p:font typeface="Inter"/>
      <p:bold r:id="rId37"/>
    </p:embeddedFont>
    <p:embeddedFont>
      <p:font typeface="Space Grotesk"/>
      <p:bold r:id="rId3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5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88593" y="2358479"/>
            <a:ext cx="4214812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1" i="0" u="none">
                <a:solidFill>
                  <a:srgbClr val="2563EB"/>
                </a:solidFill>
                <a:latin typeface="Inter"/>
              </a:rPr>
              <a:t>TEKNOLOGI INFRASTRUKTUR MODERN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9055" y="2724150"/>
            <a:ext cx="11113889" cy="7542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sz="5400" b="1" i="0" u="none">
                <a:solidFill>
                  <a:srgbClr val="0F172A"/>
                </a:solidFill>
                <a:latin typeface="Space Grotesk"/>
              </a:rPr>
              <a:t>Fondasi </a:t>
            </a:r>
            <a:r>
              <a:rPr sz="5400" b="1" i="0" u="none">
                <a:solidFill>
                  <a:srgbClr val="2563EB"/>
                </a:solidFill>
                <a:latin typeface="Space Grotesk"/>
              </a:rPr>
              <a:t>Cloud Computing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3859410"/>
            <a:ext cx="7143750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sz="1800" b="0" i="0" u="none">
                <a:solidFill>
                  <a:srgbClr val="475569"/>
                </a:solidFill>
                <a:latin typeface="Inter"/>
              </a:rPr>
              <a:t>Evolusi sistem, standar esensial, dan pemimpin ekosistem global.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C985ED-D4BC-F9BD-BFCC-DFF0ABC22DD7}"/>
              </a:ext>
            </a:extLst>
          </p:cNvPr>
          <p:cNvSpPr txBox="1"/>
          <p:nvPr/>
        </p:nvSpPr>
        <p:spPr>
          <a:xfrm>
            <a:off x="2524124" y="4880370"/>
            <a:ext cx="7143750" cy="301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0" i="0" u="none" dirty="0">
                <a:solidFill>
                  <a:srgbClr val="475569"/>
                </a:solidFill>
                <a:latin typeface="Inter"/>
              </a:rPr>
              <a:t>Asrul Abdullah</a:t>
            </a:r>
            <a:endParaRPr sz="1800" b="0" i="0" u="none" dirty="0">
              <a:solidFill>
                <a:srgbClr val="475569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2667000"/>
            <a:ext cx="762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4465" y="3009900"/>
            <a:ext cx="1223069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1" i="0" u="none">
                <a:solidFill>
                  <a:srgbClr val="2563EB"/>
                </a:solidFill>
                <a:latin typeface="Inter"/>
              </a:rPr>
              <a:t>BAGIAN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26816" y="3375570"/>
            <a:ext cx="6938367" cy="586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sz="4200" b="1" i="0" u="none">
                <a:solidFill>
                  <a:srgbClr val="0F172A"/>
                </a:solidFill>
                <a:latin typeface="Space Grotesk"/>
              </a:rPr>
              <a:t>Evolusi Infrastruktur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398192"/>
            <a:ext cx="10972800" cy="6172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10050" y="609600"/>
            <a:ext cx="4714875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2563EB"/>
                </a:solidFill>
                <a:latin typeface="Inter"/>
              </a:rPr>
              <a:t>DEKADE 1950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10050" y="975270"/>
            <a:ext cx="4950618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F172A"/>
                </a:solidFill>
                <a:latin typeface="Space Grotesk"/>
              </a:rPr>
              <a:t>Era Mainframe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10050" y="1889670"/>
            <a:ext cx="4714875" cy="3732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sz="2100" b="0" i="0" u="none">
                <a:solidFill>
                  <a:srgbClr val="1E293B"/>
                </a:solidFill>
                <a:latin typeface="Inter"/>
              </a:rPr>
              <a:t>Komputasi monolitik terpusat.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10050" y="2415331"/>
            <a:ext cx="4714875" cy="3732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sz="2100" b="0" i="0" u="none">
                <a:solidFill>
                  <a:srgbClr val="1E293B"/>
                </a:solidFill>
                <a:latin typeface="Inter"/>
              </a:rPr>
              <a:t>Ukuran masif.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5718" y="2126009"/>
            <a:ext cx="4500562" cy="1524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sz="12000" b="1" i="0" u="none">
                <a:solidFill>
                  <a:srgbClr val="2563EB"/>
                </a:solidFill>
                <a:latin typeface="Inter"/>
              </a:rPr>
              <a:t>1980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45656" y="3878609"/>
            <a:ext cx="5500687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0F172A"/>
                </a:solidFill>
                <a:latin typeface="Space Grotesk"/>
              </a:rPr>
              <a:t>Lahirnya Komputer Personal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63515" y="4412009"/>
            <a:ext cx="5464968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sz="1800" b="0" i="0" u="none">
                <a:solidFill>
                  <a:srgbClr val="475569"/>
                </a:solidFill>
                <a:latin typeface="Inter"/>
              </a:rPr>
              <a:t>Desentralisasi sistem komputasi dimulai.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86475" y="2933700"/>
            <a:ext cx="19050" cy="1905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0337" y="3040409"/>
            <a:ext cx="6858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3962" y="3040409"/>
            <a:ext cx="609600" cy="609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609600"/>
            <a:ext cx="115824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F172A"/>
                </a:solidFill>
                <a:latin typeface="Space Grotesk"/>
              </a:rPr>
              <a:t>Arsitektur Client-Server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150911" y="3878609"/>
            <a:ext cx="6388298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0F172A"/>
                </a:solidFill>
                <a:latin typeface="Space Grotesk"/>
              </a:rPr>
              <a:t>Klien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0" y="4412009"/>
            <a:ext cx="6084093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sz="1800" b="0" i="0" u="none">
                <a:solidFill>
                  <a:srgbClr val="475569"/>
                </a:solidFill>
                <a:latin typeface="Inter"/>
              </a:rPr>
              <a:t>Meminta layanan.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06120" y="3878609"/>
            <a:ext cx="6085284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0F172A"/>
                </a:solidFill>
                <a:latin typeface="Space Grotesk"/>
              </a:rPr>
              <a:t>Server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06715" y="4412009"/>
            <a:ext cx="6084093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sz="1800" b="0" i="0" u="none">
                <a:solidFill>
                  <a:srgbClr val="475569"/>
                </a:solidFill>
                <a:latin typeface="Inter"/>
              </a:rPr>
              <a:t>Merespon permintaan.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58417"/>
            <a:ext cx="5334000" cy="2021085"/>
          </a:xfrm>
          <a:prstGeom prst="roundRect">
            <a:avLst>
              <a:gd name="adj" fmla="val 565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3058417"/>
            <a:ext cx="5334000" cy="2021085"/>
          </a:xfrm>
          <a:prstGeom prst="roundRect">
            <a:avLst>
              <a:gd name="adj" fmla="val 565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439417"/>
            <a:ext cx="4724400" cy="381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3439417"/>
            <a:ext cx="4724400" cy="381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2563EB"/>
                </a:solidFill>
                <a:latin typeface="Inter"/>
              </a:rPr>
              <a:t>DEKADE 1990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75270"/>
            <a:ext cx="115824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F172A"/>
                </a:solidFill>
                <a:latin typeface="Space Grotesk"/>
              </a:rPr>
              <a:t>Era Internet Komersial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49017"/>
            <a:ext cx="6200775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Web 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458592"/>
            <a:ext cx="5905500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Jaringan global statis.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200" y="4049017"/>
            <a:ext cx="563880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Batasan Fisik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200" y="4458592"/>
            <a:ext cx="5638800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Kapasitas server terbatas.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425" y="3276600"/>
            <a:ext cx="2343150" cy="29718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1625" y="4191000"/>
            <a:ext cx="1428750" cy="114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14850" y="609600"/>
            <a:ext cx="4150518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F172A"/>
                </a:solidFill>
                <a:latin typeface="Space Grotesk"/>
              </a:rPr>
              <a:t>Komputasi Grid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14850" y="1524000"/>
            <a:ext cx="3952875" cy="3732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sz="2100" b="0" i="0" u="none">
                <a:solidFill>
                  <a:srgbClr val="1E293B"/>
                </a:solidFill>
                <a:latin typeface="Inter"/>
              </a:rPr>
              <a:t>Gabungan kluster mesin.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14850" y="2049660"/>
            <a:ext cx="3952875" cy="3732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sz="2100" b="0" i="0" u="none">
                <a:solidFill>
                  <a:srgbClr val="1E293B"/>
                </a:solidFill>
                <a:latin typeface="Inter"/>
              </a:rPr>
              <a:t>Kekuatan terdistribusi.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8050" y="3206204"/>
            <a:ext cx="171450" cy="2476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8050" y="3754784"/>
            <a:ext cx="171450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8050" y="4303365"/>
            <a:ext cx="171450" cy="247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609600"/>
            <a:ext cx="115824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F172A"/>
                </a:solidFill>
                <a:latin typeface="Space Grotesk"/>
              </a:rPr>
              <a:t>Kendala Infrastruktur Tradisional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71900" y="3177629"/>
            <a:ext cx="6296025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1" i="0" u="none">
                <a:solidFill>
                  <a:srgbClr val="F43F5E"/>
                </a:solidFill>
                <a:latin typeface="Inter"/>
              </a:rPr>
              <a:t>Biaya Tinggi: Investasi perangkat keras masif.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71900" y="3726209"/>
            <a:ext cx="6296025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1" i="0" u="none">
                <a:solidFill>
                  <a:srgbClr val="F43F5E"/>
                </a:solidFill>
                <a:latin typeface="Inter"/>
              </a:rPr>
              <a:t>Kaku: Skalabilitas lambat.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71900" y="4274790"/>
            <a:ext cx="6296025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1" i="0" u="none">
                <a:solidFill>
                  <a:srgbClr val="F43F5E"/>
                </a:solidFill>
                <a:latin typeface="Inter"/>
              </a:rPr>
              <a:t>Kompleks: Pemeliharaan fisik rumit.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95550" y="2697509"/>
            <a:ext cx="7200900" cy="1462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sz="4800" b="1" i="0" u="none">
                <a:solidFill>
                  <a:srgbClr val="0F172A"/>
                </a:solidFill>
                <a:latin typeface="Space Grotesk"/>
              </a:rPr>
              <a:t>Virtualisasi.</a:t>
            </a:r>
            <a:r>
              <a:t>
</a:t>
            </a:r>
            <a:r>
              <a:rPr sz="4800" b="1" i="0" u="none">
                <a:solidFill>
                  <a:srgbClr val="2563EB"/>
                </a:solidFill>
                <a:latin typeface="Space Grotesk"/>
              </a:rPr>
              <a:t>Katalis Perubahan.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1350" y="2600325"/>
            <a:ext cx="5829300" cy="36480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00425" y="609600"/>
            <a:ext cx="7075884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F172A"/>
                </a:solidFill>
                <a:latin typeface="Space Grotesk"/>
              </a:rPr>
              <a:t>Abstraksi Perangkat Keras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00425" y="1524000"/>
            <a:ext cx="6738937" cy="3732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sz="2100" b="0" i="0" u="none">
                <a:solidFill>
                  <a:srgbClr val="1E293B"/>
                </a:solidFill>
                <a:latin typeface="Inter"/>
              </a:rPr>
              <a:t>Pemisahan sistem operasi dari fisik mesin.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9550" y="2976562"/>
            <a:ext cx="914400" cy="914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2976562"/>
            <a:ext cx="914400" cy="914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8049" y="2976562"/>
            <a:ext cx="914400" cy="914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4350" y="3281362"/>
            <a:ext cx="3048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4550" y="3281362"/>
            <a:ext cx="3429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64749" y="3281362"/>
            <a:ext cx="3810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09600"/>
            <a:ext cx="115824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F172A"/>
                </a:solidFill>
                <a:latin typeface="Space Grotesk"/>
              </a:rPr>
              <a:t>Keunggulan Virtualisasi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42" y="4119562"/>
            <a:ext cx="4533965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Space Grotesk"/>
              </a:rPr>
              <a:t>Isolasi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7793" y="4529137"/>
            <a:ext cx="431806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500" b="0" i="0" u="none">
                <a:solidFill>
                  <a:srgbClr val="475569"/>
                </a:solidFill>
                <a:latin typeface="Inter"/>
              </a:rPr>
              <a:t>Stabilitas beban kerja.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29091" y="4119562"/>
            <a:ext cx="4533965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Space Grotesk"/>
              </a:rPr>
              <a:t>Efisiensi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7043" y="4529137"/>
            <a:ext cx="431806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500" b="0" i="0" u="none">
                <a:solidFill>
                  <a:srgbClr val="475569"/>
                </a:solidFill>
                <a:latin typeface="Inter"/>
              </a:rPr>
              <a:t>Utilisasi maksimal.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470" y="4119562"/>
            <a:ext cx="4495706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Space Grotesk"/>
              </a:rPr>
              <a:t>Portabilitas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6293" y="4529137"/>
            <a:ext cx="431806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500" b="0" i="0" u="none">
                <a:solidFill>
                  <a:srgbClr val="475569"/>
                </a:solidFill>
                <a:latin typeface="Inter"/>
              </a:rPr>
              <a:t>Migrasi instan.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609600"/>
            <a:ext cx="4876800" cy="4876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90975" y="6096000"/>
            <a:ext cx="5262562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2563EB"/>
                </a:solidFill>
                <a:latin typeface="Inter"/>
              </a:rPr>
              <a:t>ERA MODERN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90975" y="6461670"/>
            <a:ext cx="5525690" cy="39632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F172A"/>
                </a:solidFill>
                <a:latin typeface="Space Grotesk"/>
              </a:rPr>
              <a:t>Pusat Data Raksasa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90975" y="7376070"/>
            <a:ext cx="5262562" cy="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sz="2100" b="0" i="0" u="none">
                <a:solidFill>
                  <a:srgbClr val="1E293B"/>
                </a:solidFill>
                <a:latin typeface="Inter"/>
              </a:rPr>
              <a:t>Skala komputasi masif komersial.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5188" y="3733800"/>
            <a:ext cx="266700" cy="3048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8589" y="3733800"/>
            <a:ext cx="266700" cy="30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1466" y="3733800"/>
            <a:ext cx="26670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525" y="3471862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3064" y="3471862"/>
            <a:ext cx="51435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2628" y="3471862"/>
            <a:ext cx="5715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05504" y="3471862"/>
            <a:ext cx="5715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609600"/>
            <a:ext cx="115824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F172A"/>
                </a:solidFill>
                <a:latin typeface="Space Grotesk"/>
              </a:rPr>
              <a:t>Ringkasan Perjalanan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1045" y="4081462"/>
            <a:ext cx="128016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4" b="1" i="0" u="none">
                <a:solidFill>
                  <a:srgbClr val="0F172A"/>
                </a:solidFill>
                <a:latin typeface="Space Grotesk"/>
              </a:rPr>
              <a:t>Mainframe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5157" y="4081462"/>
            <a:ext cx="131016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4" b="1" i="0" u="none">
                <a:solidFill>
                  <a:srgbClr val="0F172A"/>
                </a:solidFill>
                <a:latin typeface="Space Grotesk"/>
              </a:rPr>
              <a:t>PC &amp;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28321" y="4081462"/>
            <a:ext cx="9001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4" b="1" i="0" u="none">
                <a:solidFill>
                  <a:srgbClr val="0F172A"/>
                </a:solidFill>
                <a:latin typeface="Space Grotesk"/>
              </a:rPr>
              <a:t>Grid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41198" y="4081462"/>
            <a:ext cx="9001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4" b="1" i="0" u="none">
                <a:solidFill>
                  <a:srgbClr val="2563EB"/>
                </a:solidFill>
                <a:latin typeface="Space Grotesk"/>
              </a:rPr>
              <a:t>Cloud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2667000"/>
            <a:ext cx="762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70177" y="3009900"/>
            <a:ext cx="1251644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1" i="0" u="none">
                <a:solidFill>
                  <a:srgbClr val="2563EB"/>
                </a:solidFill>
                <a:latin typeface="Inter"/>
              </a:rPr>
              <a:t>BAGIAN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45606" y="3375570"/>
            <a:ext cx="6300787" cy="586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sz="4200" b="1" i="0" u="none">
                <a:solidFill>
                  <a:srgbClr val="0F172A"/>
                </a:solidFill>
                <a:latin typeface="Space Grotesk"/>
              </a:rPr>
              <a:t>Standar Emas NIST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1212" y="1950690"/>
            <a:ext cx="409575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0296" y="2712690"/>
            <a:ext cx="11251406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sz="3000" b="1" i="0" u="none">
                <a:solidFill>
                  <a:srgbClr val="0F172A"/>
                </a:solidFill>
                <a:latin typeface="Space Grotesk"/>
              </a:rPr>
              <a:t>"Model untuk akses jaringan yang nyaman dan sesuai permintaan ke sumber daya komputasi bersama."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99084" y="4541490"/>
            <a:ext cx="6593830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1" i="0" u="none">
                <a:solidFill>
                  <a:srgbClr val="64748B"/>
                </a:solidFill>
                <a:latin typeface="Inter"/>
              </a:rPr>
              <a:t>— NATIONAL INSTITUTE OF STANDARDS AND TECHNOLOGY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0" y="2362200"/>
            <a:ext cx="1219200" cy="1524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sz="12000" b="1" i="0" u="none">
                <a:solidFill>
                  <a:srgbClr val="2563EB"/>
                </a:solidFill>
                <a:latin typeface="Inter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89486" y="4114800"/>
            <a:ext cx="4213026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0F172A"/>
                </a:solidFill>
                <a:latin typeface="Space Grotesk"/>
              </a:rPr>
              <a:t>Karakteristik Esensial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124450" y="3733800"/>
            <a:ext cx="38100" cy="3199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862512" y="723900"/>
            <a:ext cx="3083718" cy="2286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0"/>
              </a:lnSpc>
            </a:pPr>
            <a:r>
              <a:rPr sz="18000" b="1" i="0" u="none">
                <a:solidFill>
                  <a:srgbClr val="0F172A"/>
                </a:solidFill>
                <a:latin typeface="Inter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53050" y="3733800"/>
            <a:ext cx="2200275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0" i="0" u="none">
                <a:solidFill>
                  <a:srgbClr val="475569"/>
                </a:solidFill>
                <a:latin typeface="Inter"/>
              </a:rPr>
              <a:t>Layanan instan.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48212" y="2487930"/>
            <a:ext cx="2930366" cy="1162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 dirty="0">
                <a:solidFill>
                  <a:srgbClr val="0F172A"/>
                </a:solidFill>
                <a:latin typeface="Space Grotesk"/>
              </a:rPr>
              <a:t>On-Demand</a:t>
            </a:r>
            <a:r>
              <a:rPr dirty="0"/>
              <a:t>
</a:t>
            </a:r>
            <a:r>
              <a:rPr sz="3600" b="1" i="0" u="none" dirty="0">
                <a:solidFill>
                  <a:srgbClr val="0F172A"/>
                </a:solidFill>
                <a:latin typeface="Space Grotesk"/>
              </a:rPr>
              <a:t> Self-Service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24162"/>
            <a:ext cx="5334000" cy="2124075"/>
          </a:xfrm>
          <a:prstGeom prst="roundRect">
            <a:avLst>
              <a:gd name="adj" fmla="val 538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824162"/>
            <a:ext cx="5334000" cy="2124075"/>
          </a:xfrm>
          <a:prstGeom prst="roundRect">
            <a:avLst>
              <a:gd name="adj" fmla="val 538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850" y="3205162"/>
            <a:ext cx="571500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650" y="3205162"/>
            <a:ext cx="5715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09600"/>
            <a:ext cx="115824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F172A"/>
                </a:solidFill>
                <a:latin typeface="Space Grotesk"/>
              </a:rPr>
              <a:t>Provisi Mandiri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7678" y="3890962"/>
            <a:ext cx="2737842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Space Grotesk"/>
              </a:rPr>
              <a:t>Otomatisasi Penuh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22834" y="4300537"/>
            <a:ext cx="310753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500" b="0" i="0" u="none">
                <a:solidFill>
                  <a:srgbClr val="475569"/>
                </a:solidFill>
                <a:latin typeface="Inter"/>
              </a:rPr>
              <a:t>Sistem merespon seketika.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0284" y="3890962"/>
            <a:ext cx="1850231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Space Grotesk"/>
              </a:rPr>
              <a:t>Tanpa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15212" y="4300537"/>
            <a:ext cx="300037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500" b="0" i="0" u="none">
                <a:solidFill>
                  <a:srgbClr val="475569"/>
                </a:solidFill>
                <a:latin typeface="Inter"/>
              </a:rPr>
              <a:t>Bebas intervensi manusia.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3357" y="609600"/>
            <a:ext cx="5145285" cy="2514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38600" y="3733800"/>
            <a:ext cx="5143500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2563EB"/>
                </a:solidFill>
                <a:latin typeface="Inter"/>
              </a:rPr>
              <a:t>KARAKTERISTIK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38600" y="4099470"/>
            <a:ext cx="5400675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F172A"/>
                </a:solidFill>
                <a:latin typeface="Space Grotesk"/>
              </a:rPr>
              <a:t>Broad Network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38600" y="4785270"/>
            <a:ext cx="5143500" cy="3732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sz="2100" b="0" i="0" u="none">
                <a:solidFill>
                  <a:srgbClr val="1E293B"/>
                </a:solidFill>
                <a:latin typeface="Inter"/>
              </a:rPr>
              <a:t>Konektivitas global.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19425"/>
            <a:ext cx="3454449" cy="1733550"/>
          </a:xfrm>
          <a:prstGeom prst="roundRect">
            <a:avLst>
              <a:gd name="adj" fmla="val 6593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68849" y="3019425"/>
            <a:ext cx="3454449" cy="1733550"/>
          </a:xfrm>
          <a:prstGeom prst="roundRect">
            <a:avLst>
              <a:gd name="adj" fmla="val 6593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28099" y="3019425"/>
            <a:ext cx="3454449" cy="1733550"/>
          </a:xfrm>
          <a:prstGeom prst="roundRect">
            <a:avLst>
              <a:gd name="adj" fmla="val 6593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3875" y="3486150"/>
            <a:ext cx="28575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875" y="3486150"/>
            <a:ext cx="47625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7124" y="3486150"/>
            <a:ext cx="476250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09600"/>
            <a:ext cx="115824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F172A"/>
                </a:solidFill>
                <a:latin typeface="Space Grotesk"/>
              </a:rPr>
              <a:t>Akses Multi-Platform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1412" y="4019550"/>
            <a:ext cx="1988343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1" i="0" u="none">
                <a:solidFill>
                  <a:srgbClr val="475569"/>
                </a:solidFill>
                <a:latin typeface="Inter"/>
              </a:rPr>
              <a:t>Perangkat Mobile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1637" y="4019550"/>
            <a:ext cx="153590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1" i="0" u="none">
                <a:solidFill>
                  <a:srgbClr val="475569"/>
                </a:solidFill>
                <a:latin typeface="Inter"/>
              </a:rPr>
              <a:t>Browser 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07562" y="4019550"/>
            <a:ext cx="138112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1" i="0" u="none">
                <a:solidFill>
                  <a:srgbClr val="475569"/>
                </a:solidFill>
                <a:latin typeface="Inter"/>
              </a:rPr>
              <a:t>Koneksi API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78360"/>
            <a:ext cx="5181600" cy="1981200"/>
          </a:xfrm>
          <a:prstGeom prst="roundRect">
            <a:avLst>
              <a:gd name="adj" fmla="val 576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0" y="3078360"/>
            <a:ext cx="5181600" cy="1981200"/>
          </a:xfrm>
          <a:prstGeom prst="roundRect">
            <a:avLst>
              <a:gd name="adj" fmla="val 5769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2563EB"/>
                </a:solidFill>
                <a:latin typeface="Inter"/>
              </a:rPr>
              <a:t>KARAKTERISTIK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75270"/>
            <a:ext cx="115824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F172A"/>
                </a:solidFill>
                <a:latin typeface="Space Grotesk"/>
              </a:rPr>
              <a:t>Resource Pooling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75" y="3687960"/>
            <a:ext cx="520065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F172A"/>
                </a:solidFill>
                <a:latin typeface="Space Grotesk"/>
              </a:rPr>
              <a:t>Server Tradisional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4183260"/>
            <a:ext cx="49530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500" b="0" i="0" u="none">
                <a:solidFill>
                  <a:srgbClr val="475569"/>
                </a:solidFill>
                <a:latin typeface="Inter"/>
              </a:rPr>
              <a:t>Satu mesin fisik tunggal.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91275" y="3687960"/>
            <a:ext cx="520065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2563EB"/>
                </a:solidFill>
                <a:latin typeface="Space Grotesk"/>
              </a:rPr>
              <a:t>Cloud Pooling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5100" y="4183260"/>
            <a:ext cx="49530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500" b="0" i="0" u="none">
                <a:solidFill>
                  <a:srgbClr val="475569"/>
                </a:solidFill>
                <a:latin typeface="Inter"/>
              </a:rPr>
              <a:t>Ribuan penyewa terpusat.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51932" y="2781300"/>
            <a:ext cx="5088135" cy="639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sz="4200" b="1" i="0" u="none">
                <a:solidFill>
                  <a:srgbClr val="0F172A"/>
                </a:solidFill>
                <a:latin typeface="Space Grotesk"/>
              </a:rPr>
              <a:t>Multi-Tenancy.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06390" y="3649860"/>
            <a:ext cx="5179218" cy="4266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400" b="0" i="0" u="none">
                <a:solidFill>
                  <a:srgbClr val="475569"/>
                </a:solidFill>
                <a:latin typeface="Inter"/>
              </a:rPr>
              <a:t>Berbagi fisik, terisolasi logis.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748" y="2643931"/>
            <a:ext cx="10972502" cy="540499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62475" y="609600"/>
            <a:ext cx="3833812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2563EB"/>
                </a:solidFill>
                <a:latin typeface="Inter"/>
              </a:rPr>
              <a:t>KARAKTERISTIK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62475" y="975270"/>
            <a:ext cx="4025503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F172A"/>
                </a:solidFill>
                <a:latin typeface="Space Grotesk"/>
              </a:rPr>
              <a:t>Rapid Elasticity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62475" y="1661070"/>
            <a:ext cx="3833812" cy="3732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sz="2100" b="0" i="0" u="none">
                <a:solidFill>
                  <a:srgbClr val="1E293B"/>
                </a:solidFill>
                <a:latin typeface="Inter"/>
              </a:rPr>
              <a:t>Skalabilitas tanpa batas.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3206204"/>
            <a:ext cx="257175" cy="2476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3754784"/>
            <a:ext cx="257175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4303365"/>
            <a:ext cx="200025" cy="247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609600"/>
            <a:ext cx="115824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F172A"/>
                </a:solidFill>
                <a:latin typeface="Space Grotesk"/>
              </a:rPr>
              <a:t>Dinamika Kapasitas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8775" y="3177629"/>
            <a:ext cx="6353175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1" i="0" u="none">
                <a:solidFill>
                  <a:srgbClr val="2563EB"/>
                </a:solidFill>
                <a:latin typeface="Inter"/>
              </a:rPr>
              <a:t>Scale Up: Kapasitas melonjak otomatis.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8775" y="3726209"/>
            <a:ext cx="6353175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1" i="0" u="none">
                <a:solidFill>
                  <a:srgbClr val="2563EB"/>
                </a:solidFill>
                <a:latin typeface="Inter"/>
              </a:rPr>
              <a:t>Scale Down: Penyusutan pasca-puncak trafik.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1625" y="4274790"/>
            <a:ext cx="6410325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1" i="0" u="none">
                <a:solidFill>
                  <a:srgbClr val="2563EB"/>
                </a:solidFill>
                <a:latin typeface="Inter"/>
              </a:rPr>
              <a:t>Adaptif: Eksekusi dalam hitungan detik.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153025" y="3733800"/>
            <a:ext cx="38100" cy="3199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643437" y="723900"/>
            <a:ext cx="3631406" cy="2286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0"/>
              </a:lnSpc>
            </a:pPr>
            <a:r>
              <a:rPr sz="18000" b="1" i="0" u="none">
                <a:solidFill>
                  <a:srgbClr val="0F172A"/>
                </a:solidFill>
                <a:latin typeface="Inter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81625" y="3733800"/>
            <a:ext cx="2128837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0" i="0" u="none">
                <a:solidFill>
                  <a:srgbClr val="475569"/>
                </a:solidFill>
                <a:latin typeface="Inter"/>
              </a:rPr>
              <a:t>Akurasi metrik.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95850" y="2467610"/>
            <a:ext cx="2400300" cy="1162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F172A"/>
                </a:solidFill>
                <a:latin typeface="Space Grotesk"/>
              </a:rPr>
              <a:t>Measured</a:t>
            </a:r>
            <a:r>
              <a:t>
</a:t>
            </a:r>
            <a:r>
              <a:rPr sz="3600" b="1" i="0" u="none">
                <a:solidFill>
                  <a:srgbClr val="0F172A"/>
                </a:solidFill>
                <a:latin typeface="Space Grotesk"/>
              </a:rPr>
              <a:t> Service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609600"/>
            <a:ext cx="115824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F172A"/>
                </a:solidFill>
                <a:latin typeface="Space Grotesk"/>
              </a:rPr>
              <a:t>Pay-As-You-Go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0500" y="3341340"/>
            <a:ext cx="4191000" cy="746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sz="4200" b="1" i="0" u="none">
                <a:solidFill>
                  <a:srgbClr val="2563EB"/>
                </a:solidFill>
                <a:latin typeface="Inter"/>
              </a:rPr>
              <a:t>100%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" y="4164210"/>
            <a:ext cx="41910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500" b="0" i="0" u="none">
                <a:solidFill>
                  <a:srgbClr val="475569"/>
                </a:solidFill>
                <a:latin typeface="Inter"/>
              </a:rPr>
              <a:t>Transparansi tagihan.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00500" y="3341340"/>
            <a:ext cx="4191000" cy="746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sz="4200" b="1" i="0" u="none">
                <a:solidFill>
                  <a:srgbClr val="2563EB"/>
                </a:solidFill>
                <a:latin typeface="Inter"/>
              </a:rPr>
              <a:t>24/7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500" y="4164210"/>
            <a:ext cx="41910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500" b="0" i="0" u="none">
                <a:solidFill>
                  <a:srgbClr val="475569"/>
                </a:solidFill>
                <a:latin typeface="Inter"/>
              </a:rPr>
              <a:t>Pemantauan sumber daya.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0500" y="3341340"/>
            <a:ext cx="4191000" cy="746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sz="4200" b="1" i="0" u="none">
                <a:solidFill>
                  <a:srgbClr val="2563EB"/>
                </a:solidFill>
                <a:latin typeface="Inter"/>
              </a:rPr>
              <a:t>Presisi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0" y="4164210"/>
            <a:ext cx="41910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500" b="0" i="0" u="none">
                <a:solidFill>
                  <a:srgbClr val="475569"/>
                </a:solidFill>
                <a:latin typeface="Inter"/>
              </a:rPr>
              <a:t>Pembayaran aktual.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2667000"/>
            <a:ext cx="762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70177" y="3009900"/>
            <a:ext cx="1251644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1" i="0" u="none">
                <a:solidFill>
                  <a:srgbClr val="2563EB"/>
                </a:solidFill>
                <a:latin typeface="Inter"/>
              </a:rPr>
              <a:t>BAGIAN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33104" y="3375570"/>
            <a:ext cx="6325790" cy="586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sz="4200" b="1" i="0" u="none">
                <a:solidFill>
                  <a:srgbClr val="0F172A"/>
                </a:solidFill>
                <a:latin typeface="Space Grotesk"/>
              </a:rPr>
              <a:t>Raksasa Ekosistem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0062" y="609600"/>
            <a:ext cx="3571875" cy="58959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7925" y="3518535"/>
            <a:ext cx="5310187" cy="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0"/>
              </a:lnSpc>
            </a:pPr>
            <a:r>
              <a:rPr sz="10500" b="1" i="0" u="none" dirty="0">
                <a:solidFill>
                  <a:srgbClr val="2563EB"/>
                </a:solidFill>
                <a:latin typeface="Inter"/>
              </a:rPr>
              <a:t>66%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8325" y="2870835"/>
            <a:ext cx="5310187" cy="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sz="2100" b="0" i="0" u="none" dirty="0" err="1">
                <a:solidFill>
                  <a:srgbClr val="1E293B"/>
                </a:solidFill>
                <a:latin typeface="Inter"/>
              </a:rPr>
              <a:t>Pangsa</a:t>
            </a:r>
            <a:r>
              <a:rPr sz="2100" b="0" i="0" u="none" dirty="0">
                <a:solidFill>
                  <a:srgbClr val="1E293B"/>
                </a:solidFill>
                <a:latin typeface="Inter"/>
              </a:rPr>
              <a:t> pasar </a:t>
            </a:r>
            <a:r>
              <a:rPr sz="2100" b="0" i="0" u="none" dirty="0" err="1">
                <a:solidFill>
                  <a:srgbClr val="1E293B"/>
                </a:solidFill>
                <a:latin typeface="Inter"/>
              </a:rPr>
              <a:t>dikuasai</a:t>
            </a:r>
            <a:r>
              <a:rPr sz="2100" b="0" i="0" u="none" dirty="0">
                <a:solidFill>
                  <a:srgbClr val="1E293B"/>
                </a:solidFill>
                <a:latin typeface="Inter"/>
              </a:rPr>
              <a:t> </a:t>
            </a:r>
            <a:r>
              <a:rPr sz="2100" b="0" i="0" u="none" dirty="0" err="1">
                <a:solidFill>
                  <a:srgbClr val="1E293B"/>
                </a:solidFill>
                <a:latin typeface="Inter"/>
              </a:rPr>
              <a:t>tiga</a:t>
            </a:r>
            <a:r>
              <a:rPr sz="2100" b="0" i="0" u="none" dirty="0">
                <a:solidFill>
                  <a:srgbClr val="1E293B"/>
                </a:solidFill>
                <a:latin typeface="Inter"/>
              </a:rPr>
              <a:t> </a:t>
            </a:r>
            <a:r>
              <a:rPr sz="2100" b="0" i="0" u="none" dirty="0" err="1">
                <a:solidFill>
                  <a:srgbClr val="1E293B"/>
                </a:solidFill>
                <a:latin typeface="Inter"/>
              </a:rPr>
              <a:t>besar</a:t>
            </a:r>
            <a:r>
              <a:rPr sz="2100" b="0" i="0" u="none" dirty="0">
                <a:solidFill>
                  <a:srgbClr val="1E293B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180457"/>
            <a:ext cx="3454449" cy="1411485"/>
          </a:xfrm>
          <a:prstGeom prst="roundRect">
            <a:avLst>
              <a:gd name="adj" fmla="val 809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68849" y="3180457"/>
            <a:ext cx="3454449" cy="1411485"/>
          </a:xfrm>
          <a:prstGeom prst="roundRect">
            <a:avLst>
              <a:gd name="adj" fmla="val 809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28099" y="3180457"/>
            <a:ext cx="3454449" cy="1411485"/>
          </a:xfrm>
          <a:prstGeom prst="roundRect">
            <a:avLst>
              <a:gd name="adj" fmla="val 809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15824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F172A"/>
                </a:solidFill>
                <a:latin typeface="Space Grotesk"/>
              </a:rPr>
              <a:t>Trio Pemimpin Pasar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1457"/>
            <a:ext cx="3733865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71032"/>
            <a:ext cx="3556062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Pelopor industri cloud.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3649" y="3561457"/>
            <a:ext cx="3733865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Azure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3649" y="3971032"/>
            <a:ext cx="3556062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Kekuatan enterprise.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2899" y="3561457"/>
            <a:ext cx="3733865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4285F4"/>
                </a:solidFill>
                <a:latin typeface="Space Grotesk"/>
              </a:rPr>
              <a:t>Google Cloud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32899" y="3971032"/>
            <a:ext cx="3556062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Keunggulan analitik data.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756469"/>
            <a:ext cx="762000" cy="60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83160" y="2670869"/>
            <a:ext cx="5425678" cy="7542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sz="5400" b="1" i="0" u="none">
                <a:solidFill>
                  <a:srgbClr val="0F172A"/>
                </a:solidFill>
                <a:latin typeface="Space Grotesk"/>
              </a:rPr>
              <a:t>Terima Kasih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75546" y="3806130"/>
            <a:ext cx="3440906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sz="1800" b="0" i="0" u="none">
                <a:solidFill>
                  <a:srgbClr val="475569"/>
                </a:solidFill>
                <a:latin typeface="Inter"/>
              </a:rPr>
              <a:t>Masa depan ada di awan.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14782" y="4735710"/>
            <a:ext cx="2162286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1" i="0" u="none">
                <a:solidFill>
                  <a:srgbClr val="2563EB"/>
                </a:solidFill>
                <a:latin typeface="Inter"/>
              </a:rPr>
              <a:t>SESI TANYA JAWAB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" y="148590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1500" y="2257425"/>
            <a:ext cx="11049000" cy="90264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3160067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1500" y="3931592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1500" y="4703117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22479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22479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1500" y="315054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315054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1500" y="392206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392206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1500" y="469359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1500" y="469359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1500" y="546511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1500" y="546511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628775"/>
            <a:ext cx="857250" cy="4762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65784"/>
            <a:ext cx="857250" cy="4762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302942"/>
            <a:ext cx="857250" cy="4762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074467"/>
            <a:ext cx="857250" cy="4762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845992"/>
            <a:ext cx="857250" cy="4762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5617517"/>
            <a:ext cx="857250" cy="4762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71500" y="571500"/>
            <a:ext cx="352544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F172A"/>
                </a:solidFill>
                <a:latin typeface="Space Grotesk"/>
              </a:rPr>
              <a:t>Image Sources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66875" y="1649759"/>
            <a:ext cx="3893343" cy="1732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https://i.ytimg.com/vi/l9Luktdq9pc/maxresdefault.jpg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6875" y="1870620"/>
            <a:ext cx="2440781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www.youtube.com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6875" y="2400300"/>
            <a:ext cx="1004887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https://media.istockphoto.com/id/1357049047/photo/big-data-and-cloud-computing-3d-rendering.jpg?s=612x612&amp;w=0&amp;k=20&amp;c=mypD9gYayWhy0HF1zGjtbmeOLpBCfhdwf_jIdglfRaY=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66875" y="2794396"/>
            <a:ext cx="2774156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www.istockphoto.com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66875" y="3323927"/>
            <a:ext cx="9251156" cy="1732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https://images.stockcake.com/public/f/f/a/ffa9eff2-7175-45f8-b305-d7aefaa621ef_large/high-tech-data-center-stockcake.jpg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66875" y="3544788"/>
            <a:ext cx="2119312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stockcake.com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6875" y="4095452"/>
            <a:ext cx="9715500" cy="1732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https://www.cisl.cam.ac.uk/sites/default/files/styles/16_9_full_width_xs_fit/public/2026-06/Arculus%20challenge.jpg?itok=qIEPFfWv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66875" y="4316313"/>
            <a:ext cx="2547937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www.cisl.cam.ac.uk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66875" y="4866977"/>
            <a:ext cx="6917531" cy="1732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https://www.instinctools.com/wp-content/uploads/2026/03/managed-capacity-preview.webp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66875" y="5087838"/>
            <a:ext cx="2726531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www.instinctools.com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66875" y="5638502"/>
            <a:ext cx="10525125" cy="1732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https://www.ncs.co/.imaging/focalarea/mobile/375x620/dam/jcr:6931626c-c8ea-4ab8-a7cd-e2161ff35c39/Masthead_Green-Cloud-Computing-2.jpg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6875" y="5859363"/>
            <a:ext cx="1857375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www.ncs.co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546</Words>
  <Application>Microsoft Office PowerPoint</Application>
  <PresentationFormat>Widescreen</PresentationFormat>
  <Paragraphs>122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Space Grotesk</vt:lpstr>
      <vt:lpstr>Inter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Asrul Abdullah</cp:lastModifiedBy>
  <cp:revision>4</cp:revision>
  <dcterms:created xsi:type="dcterms:W3CDTF">2013-01-27T09:14:16Z</dcterms:created>
  <dcterms:modified xsi:type="dcterms:W3CDTF">2026-09-22T03:19:38Z</dcterms:modified>
  <cp:category/>
</cp:coreProperties>
</file>