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288035"/>
            <a:ext cx="762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0930" y="2541240"/>
            <a:ext cx="611013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D4AF37"/>
                </a:solidFill>
                <a:latin typeface="Arial"/>
              </a:rPr>
              <a:t>PRESENTASI ARSITEKTUR KOMPUTASI 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7533" y="2912715"/>
            <a:ext cx="8956783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Arial"/>
              </a:rPr>
              <a:t>Penerapan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6693" y="3697485"/>
            <a:ext cx="747861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5C5C5"/>
                </a:solidFill>
                <a:latin typeface="Arial"/>
              </a:rPr>
              <a:t>Analisis Mendalam IaaS, PaaS, SaaS, dan BaaS untuk Sistem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21198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21198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21198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Agenda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23552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16523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IaaS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4037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Infrastruktur server virtual dasar.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23552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616523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94037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Platform pengembangan terkelola.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235523"/>
            <a:ext cx="3786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16523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SaaS &amp; BaaS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40373"/>
            <a:ext cx="3124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Aplikasi siap pakai &amp; backend instan.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Pengantar Komputasi 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Komputasi awan mengubah cara organisasi mengelola sumber daya teknologi informasi dari aset fisik lokal menjadi layanan fleksibel berbasis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Model layanan terbagi ke dalam berbagai lapisan abstraksi untuk efisiensi maksimal.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Fleksibilitas Tinggi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Skalabilitas dinamis sesuai kebutuhan beban kerja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09750" y="2802135"/>
            <a:ext cx="8572500" cy="600075"/>
          </a:xfrm>
          <a:prstGeom prst="roundRect">
            <a:avLst>
              <a:gd name="adj" fmla="val 12698"/>
            </a:avLst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9750" y="3554610"/>
            <a:ext cx="8572500" cy="600075"/>
          </a:xfrm>
          <a:prstGeom prst="roundRect">
            <a:avLst>
              <a:gd name="adj" fmla="val 12698"/>
            </a:avLst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9750" y="4307085"/>
            <a:ext cx="8572500" cy="600075"/>
          </a:xfrm>
          <a:prstGeom prst="roundRect">
            <a:avLst>
              <a:gd name="adj" fmla="val 12698"/>
            </a:avLst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9750" y="2802135"/>
            <a:ext cx="57150" cy="600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9750" y="3554610"/>
            <a:ext cx="57150" cy="600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9750" y="4307085"/>
            <a:ext cx="57150" cy="600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Hierarki Model Layanan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992635"/>
            <a:ext cx="325617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A1A"/>
                </a:solidFill>
                <a:latin typeface="Arial"/>
              </a:rPr>
              <a:t>SaaS (Software as a 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3507" y="2992635"/>
            <a:ext cx="20251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55555"/>
                </a:solidFill>
                <a:latin typeface="Arial"/>
              </a:rPr>
              <a:t>Aplikasi Siap Pakai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500" y="3745110"/>
            <a:ext cx="32163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A1A"/>
                </a:solidFill>
                <a:latin typeface="Arial"/>
              </a:rPr>
              <a:t>PaaS (Platform as a Service)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0316" y="3745110"/>
            <a:ext cx="29791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55555"/>
                </a:solidFill>
                <a:latin typeface="Arial"/>
              </a:rPr>
              <a:t>Lingkungan Pengembangan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500" y="4497585"/>
            <a:ext cx="37060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A1A"/>
                </a:solidFill>
                <a:latin typeface="Arial"/>
              </a:rPr>
              <a:t>IaaS (Infrastructure as a Service)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9397" y="4497585"/>
            <a:ext cx="26428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55555"/>
                </a:solidFill>
                <a:latin typeface="Arial"/>
              </a:rPr>
              <a:t>Server &amp; Jaringan Virtual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Bagian 1: Infrastructure as a Service (IaaS)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Fondasi Komputasi Berbasis Virtualisasi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Penyediaan sumber daya komputasi dasar melalui internet, termasuk mesin virtual, penyimpanan, dan jaringan.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Definisi &amp; Karakteristik 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Kontrol Penuh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Pengguna memiliki kendali penuh atas sistem operasi.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Skalabilitas Dinamis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Tambah atau kurangi kapasitas server secara instan.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Bayar Sesuai Pakai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Model biaya berbasis konsumsi aktual.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Komponen Utama 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Virtual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Instans server komputasi independen.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Cloud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Penyimpanan blok dan objek berskala besar.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Virtual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Manajemen subnet dan firewall aman.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Penyedia Populer 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Amazon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Standar industri komputasi awan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Google Compute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Performa tinggi dari infrastruktur Google.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DigitalOcean / Linode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VPS ramah pengembang &amp; efisien.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Skenario Penerapan IaaS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IaaS sangat ideal untuk migrasi pusat data tradisional ke cloud tanpa mengubah arsitektur aplikasi secara menyeluruh.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Digunakan untuk pengujian sistem, pengembangan skala besar, dan pengelolaan beban trafik tidak tetap.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Migrasi Tanpa Ubah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Pindahkan aplikasi lama langsung ke server virtual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Kelebihan &amp; Kekurangan IaaS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30773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Kelebihan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30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Kontrol penuh atas infrastruktur.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1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Skalabilitas sangat fleksibel.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30773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Kekurangan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30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Kompleksitas manajemen tinggi.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11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Tanggung jawab keamanan OS di tangan pengguna.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064073"/>
            <a:ext cx="5648325" cy="1657350"/>
          </a:xfrm>
          <a:prstGeom prst="roundRect">
            <a:avLst>
              <a:gd name="adj" fmla="val 6896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IaaS untuk 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878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Dalam proyek IoT, IaaS digunakan untuk membangun MQTT Broker kustom di atas mesin virtual.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879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Memberikan kebebasan penuh dalam mengatur port jaringan dan penyimpanan data sensor mentah.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16498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Kontrol Jaringan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97498"/>
            <a:ext cx="50387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Kelola koneksi ribuan perangkat IoT langsung pada tingkat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Kesimpulan Bagian IaaS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Pondasi Kuat untuk Kendali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IaaS memberikan fleksibilitas maksimal dengan konsekuensi kurva belajar dan tanggung jawab pemeliharaan sistem operasi yang lebih tinggi.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Bagian 2: Platform as a Service (PaaS)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Fokus pada Kode, Bukan Infrastruktur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PaaS menyediakan lingkungan pengembangan dan penerapan terkelola, sehingga pengembang dapat fokus menulis kode aplikasi.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Definisi &amp; Karakteristik PaaS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Abstraksi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Tidak perlu pusing mengatur sistem operasi.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Deployment Cepat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Unggah kode langsung tayang ke publik.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Skalabilitas Otomatis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Sistem menyesuaikan kapasitas secara mandiri.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Komponen Utama PaaS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Runtime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Dukungan bahasa pemrograman (Node.js, Python, dll).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Database Terkelola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Layanan basis data siap pakai tanpa konfigurasi rumit.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Build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Alat otomatisasi pembangunan aplikasi.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Penyedia Populer PaaS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Heroku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Pelopor PaaS yang sangat ramah pengembang.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Google App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Skalabilitas otomatis tingkat lanjut dari Google.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AWS Elastic Beanstalk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Kemudahan PaaS di atas infrastruktur AWS.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Skenario Penerapan PaaS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PaaS sangat cocok untuk pengembangan aplikasi web dan API kustom yang membutuhkan waktu rilis cepat ke pasar.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Mengurangi waktu konfigurasi operasional hingga 70% dibanding menggunakan IaaS murni.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Time to Market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Fokus penuh pada logika bisnis dan fitur aplikasi.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Kelebihan &amp; Kekurangan PaaS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30773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Kelebihan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30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Produktivitas pengembang meningkat.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1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Manajemen server otomatis.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30773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Kekurangan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30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Keterikatan vendor (vendor lock-in).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11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Kustomisasi infrastruktur terbatas.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PaaS untuk 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PaaS digunakan untuk menghosting backend aplikasi IoT (seperti API penerima data sensor berbasis Node.js/Python).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Memungkinkan sistem backend menangani fluktuasi pengiriman data sensor secara otomatis.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Backend API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Kelola endpoint penerima data sensor dengan mudah.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Kesimpulan Bagian PaaS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Akselerasi Inovasi Perangkat Lunak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PaaS memberikan keseimbangan yang sangat baik antara kecepatan pengembangan dan kontrol sistem.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Bagian 3: Software as a Service (SaaS)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Aplikasi Siap Pakai Melalui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Model layanan di mana aplikasi dikirimkan melalui internet berdasarkan permintaan, biasanya melalui langganan bulanan atau tahunan.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Definisi &amp; Karakteristik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Akses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Dapat diakses dari perangkat apa pun via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Pembaruan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Vendor mengurus pemeliharaan dan patch keamanan.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Tanpa Instalasi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Pengguna akhir langsung menggunakan aplikasi.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Contoh Populer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Google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Kolaborasi dokumen, email, dan penyimpanan.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Microsoft 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Suite produktivitas perkantoran modern.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Salesforce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Platform manajemen hubungan pelanggan (CRM).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064073"/>
            <a:ext cx="5648325" cy="1657350"/>
          </a:xfrm>
          <a:prstGeom prst="roundRect">
            <a:avLst>
              <a:gd name="adj" fmla="val 6896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Skenario Penerapan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SaaS digunakan untuk kebutuhan operasional standar perusahaan seperti email, manajemen SDM, akuntansi, dan kolaborasi 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Organisasi tidak perlu membangun perangkat lunak sendiri dari nol untuk fungsi umum.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16498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Efisiensi Operasional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97498"/>
            <a:ext cx="50387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Gunakan alat terbaik langsung tanpa repot pengembangan.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Kelebihan &amp; Kekurangan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30773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Kelebihan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30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Dapat digunakan seketika.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1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Tidak ada pemeliharaan perangkat lunak.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30773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Kekurangan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30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Kustomisasi sangat terbatas.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11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Ketergantungan penuh pada koneksi internet.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064073"/>
            <a:ext cx="5648325" cy="1657350"/>
          </a:xfrm>
          <a:prstGeom prst="roundRect">
            <a:avLst>
              <a:gd name="adj" fmla="val 6896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SaaS dalam Ekosistem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878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Dalam sistem IoT, dashboard visualisasi siap pakai seperti ThingsBoard atau Grafana Cloud berfungsi sebagai SaaS.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879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Pengguna langsung memantau grafik sensor tanpa harus membangun antarmuka web dari awal.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16498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Dashboard IoT Siap Pakai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97498"/>
            <a:ext cx="50387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Pantau parameter sensor secara real-time via platform web.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Kesimpulan Bagian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Kemudahan Akses Tanpa Beban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SaaS menghilangkan seluruh kompleksitas teknis di sisi pengguna akhir demi kenyamanan dan produktivitas.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Bagian 4: Backend as a Service (BaaS)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Infrastruktur Backend Instan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Model layanan yang menyediakan pengembang web dan seluler dengan cara mengotomatiskan pembangunan backend dan manajemen basis data.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Definisi &amp; Karakteristik BaaS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API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Penyediaan endpoint siap pakai untuk aplikasi.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Autentikasi Instan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Sistem login pengguna langsung aktif.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Real-Time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Sinkronisasi data langsung antar perangkat.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Komponen Utama BaaS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Database &amp;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Penyimpanan data cloud terstruktur.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Manajemen pengguna &amp; keamanan akses.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Cloud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6909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Eksekusi fungsi kode tanpa server.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Penyedia Populer BaaS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Firebase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Platform BaaS komprehensif milik Google.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Alternatif sumber terbuka berbasis PostgreSQL.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AWS Amplify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Solusi backend cepat untuk aplikasi modern.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Skenario Penerapan BaaS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BaaS sangat ideal untuk pengembangan aplikasi mobile dan web interaktif yang membutuhkan sinkronisasi data secara langsung.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Memangkas waktu pembuatan server database dan API dari berminggu-minggu menjadi beberapa jam.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Aplikasi Mobile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Fokus pada antarmuka pengguna tanpa membuat server.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16448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Kelebihan &amp; Kekurangan BaaS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30773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Kelebihan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30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Pengembangan sangat cepat.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11823"/>
            <a:ext cx="592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Fitur backend siap pakai.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30773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Kekurangan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30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Keterbatasan struktur kueri kompleks.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11823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• Biaya dapat meningkat pada skala masif.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064073"/>
            <a:ext cx="5648325" cy="1657350"/>
          </a:xfrm>
          <a:prstGeom prst="roundRect">
            <a:avLst>
              <a:gd name="adj" fmla="val 6896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BaaS untuk 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830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BaaS sangat handal untuk menampung data sensor IoT secara real-time langsung ke database cloud (seperti Firestore).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879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Memungkinkan aplikasi mobile pembaca sensor terhubung secara instan tanpa perlu membuat server API terpisah.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16498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Database IoT Real-Time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97498"/>
            <a:ext cx="50387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Sinkronisasi data sensor langsung ke perangkat pengguna.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Kesimpulan Bagian BaaS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Solusi Cepat untuk Pengembang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BaaS mempercepat peluncuran produk digital dengan mengeliminasi kebutuhan pengelolaan server backend tradisional.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68848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68848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68848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Perbandingan Komprehensif Model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06973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IaaS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68923"/>
            <a:ext cx="3124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Kontrol maksimal atas server dan jaringan virtual.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406973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PaaS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768923"/>
            <a:ext cx="3124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Fokus pada kode aplikasi dan lingkungan terkelola.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406973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Arial"/>
              </a:rPr>
              <a:t>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768923"/>
            <a:ext cx="3124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Aplikasi siap pakai tanpa urusan teknis.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Matriks Tanggung Jawab Keamanan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IaaS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Pengguna bertanggung jawab atas OS &amp; aplikasi.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Vendor kelola OS, pengguna kelola kode aplikasi.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Vendor bertanggung jawab atas seluruh keamanan.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30748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Panduan Pemilihan Model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Pilih IaaS Jika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Butuh kontrol penuh atas konfigurasi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0697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Pilih PaaS Jika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Fokus utama pada pembuatan kode aplikasi.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06973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A1A"/>
                </a:solidFill>
                <a:latin typeface="Arial"/>
              </a:rPr>
              <a:t>Pilih SaaS Jika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68923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Butuh aplikasi siap pakai tanpa pengembangan.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Integrasi Cloud dalam 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Arsitektur IoT modern seringkali menggabungkan beberapa model cloud sekaligus (Hybrid Cloud Architecture).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IaaS untuk broker MQTT, PaaS untuk backend analitik, dan SaaS untuk dashboard visualisasi.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Arsitektur Hibrida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Kombinasi optimal berbagai model layanan cloud.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064073"/>
            <a:ext cx="5648325" cy="1657350"/>
          </a:xfrm>
          <a:prstGeom prst="roundRect">
            <a:avLst>
              <a:gd name="adj" fmla="val 6896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Pertimbangan Biaya (Cost Efficiency)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878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Pemilihan model layanan berdampak langsung pada anggaran operasional jangka panjang.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879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Analisis kebutuhan beban kerja membantu menghindari pemborosan sumber daya cloud yang tidak terpakai.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16498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Efisiensi Anggaran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97498"/>
            <a:ext cx="50387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Bayar hanya untuk sumber daya yang benar-benar dikonsumsi.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Keamanan &amp; Kepatuhan Data (Security)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878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Keamanan data sensor dan privasi pengguna adalah prioritas utama dalam perancangan sistem.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879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Enkripsi end-to-end dan manajemen akses ketat wajib diterapkan di setiap lapisan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Enkripsi Menyeluruh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Lindungi data dari transmisi hingga penyimpanan akhir.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3206948"/>
            <a:ext cx="5648325" cy="1371600"/>
          </a:xfrm>
          <a:prstGeom prst="roundRect">
            <a:avLst>
              <a:gd name="adj" fmla="val 8333"/>
            </a:avLst>
          </a:prstGeom>
          <a:solidFill>
            <a:srgbClr val="FCFBF9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Tren Masa Depan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35498"/>
            <a:ext cx="50387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Arial"/>
              </a:rPr>
              <a:t>Perkembangan komputasi awan bergerak menuju komputasi tanpa server (serverless) dan integrasi kecerdasan buatan.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40398"/>
            <a:ext cx="50387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Otomatisasi penuh memungkinkan skalabilitas tak terbatas tanpa intervensi manual pengelola.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59373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Arial"/>
              </a:rPr>
              <a:t>Serverless &amp;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40373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Evolusi arsitektur menuju otomatisasi cerdas.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Ringkasan Implementasi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06067"/>
            <a:ext cx="9525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172A"/>
                </a:solidFill>
                <a:latin typeface="Arial"/>
              </a:rPr>
              <a:t>Sinergi Teknologi Cloud &amp;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69828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44444"/>
                </a:solidFill>
                <a:latin typeface="Arial"/>
              </a:rPr>
              <a:t>Pemilihan model cloud yang tepat memastikan sistem berjalan stabil, aman, dan efisien secara biaya dalam jangka panjang.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5270"/>
            <a:ext cx="5715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A1A"/>
                </a:solidFill>
                <a:latin typeface="Arial"/>
              </a:rPr>
              <a:t>Sesi Tanya Jawab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7630" y="3458467"/>
            <a:ext cx="861659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b="1" sz="2700" i="0" u="none">
                <a:solidFill>
                  <a:srgbClr val="1A1A1A"/>
                </a:solidFill>
                <a:latin typeface="Arial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7630" y="4022228"/>
            <a:ext cx="861659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555555"/>
                </a:solidFill>
                <a:latin typeface="Arial"/>
              </a:rPr>
              <a:t>Diskusi, pertanyaan, dan masukan terkait arsitektur cloud computing dipersilakan.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439417"/>
            <a:ext cx="762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95151" y="2875657"/>
            <a:ext cx="4201697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Arial"/>
              </a:rPr>
              <a:t>Penutup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4409" y="3696592"/>
            <a:ext cx="8243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5C5C5"/>
                </a:solidFill>
                <a:latin typeface="Arial"/>
              </a:rPr>
              <a:t>Penerapan IaaS, PaaS, SaaS, dan BaaS untuk Solusi Teknologi Masa Depan.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