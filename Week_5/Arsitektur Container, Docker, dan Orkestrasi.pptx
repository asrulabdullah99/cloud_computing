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32.xml" ContentType="application/vnd.openxmlformats-officedocument.presentationml.slide+xml"/>
  <ns0:Override PartName="/ppt/slides/slide33.xml" ContentType="application/vnd.openxmlformats-officedocument.presentationml.slide+xml"/>
  <ns0:Override PartName="/ppt/slides/slide34.xml" ContentType="application/vnd.openxmlformats-officedocument.presentationml.slide+xml"/>
  <ns0:Override PartName="/ppt/slides/slide35.xml" ContentType="application/vnd.openxmlformats-officedocument.presentationml.slide+xml"/>
  <ns0:Override PartName="/ppt/slides/slide36.xml" ContentType="application/vnd.openxmlformats-officedocument.presentationml.slide+xml"/>
  <ns0:Override PartName="/ppt/slides/slide37.xml" ContentType="application/vnd.openxmlformats-officedocument.presentationml.slide+xml"/>
  <ns0:Override PartName="/ppt/slides/slide38.xml" ContentType="application/vnd.openxmlformats-officedocument.presentationml.slide+xml"/>
  <ns0:Override PartName="/ppt/slides/slide39.xml" ContentType="application/vnd.openxmlformats-officedocument.presentationml.slide+xml"/>
  <ns0:Override PartName="/ppt/slides/slide4.xml" ContentType="application/vnd.openxmlformats-officedocument.presentationml.slide+xml"/>
  <ns0:Override PartName="/ppt/slides/slide40.xml" ContentType="application/vnd.openxmlformats-officedocument.presentationml.slide+xml"/>
  <ns0:Override PartName="/ppt/slides/slide41.xml" ContentType="application/vnd.openxmlformats-officedocument.presentationml.slide+xml"/>
  <ns0:Override PartName="/ppt/slides/slide42.xml" ContentType="application/vnd.openxmlformats-officedocument.presentationml.slide+xml"/>
  <ns0:Override PartName="/ppt/slides/slide43.xml" ContentType="application/vnd.openxmlformats-officedocument.presentationml.slide+xml"/>
  <ns0:Override PartName="/ppt/slides/slide44.xml" ContentType="application/vnd.openxmlformats-officedocument.presentationml.slide+xml"/>
  <ns0:Override PartName="/ppt/slides/slide45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  <ns0:sldId id="287" ns1:id="rId38"/>
    <ns0:sldId id="288" ns1:id="rId39"/>
    <ns0:sldId id="289" ns1:id="rId40"/>
    <ns0:sldId id="290" ns1:id="rId41"/>
    <ns0:sldId id="291" ns1:id="rId42"/>
    <ns0:sldId id="292" ns1:id="rId43"/>
    <ns0:sldId id="293" ns1:id="rId44"/>
    <ns0:sldId id="294" ns1:id="rId45"/>
    <ns0:sldId id="295" ns1:id="rId46"/>
    <ns0:sldId id="296" ns1:id="rId47"/>
    <ns0:sldId id="297" ns1:id="rId48"/>
    <ns0:sldId id="298" ns1:id="rId49"/>
    <ns0:sldId id="299" ns1:id="rId50"/>
    <ns0:sldId id="300" ns1:id="rId51"/>
  </ns0:sldIdLst>
  <ns0:sldSz cx="12192000" cy="6858000" type="screen4x3"/>
  <ns0:notesSz cx="6858000" cy="9144000"/>
  <ns0:embeddedFontLst>
    <ns0:embeddedFont>
      <ns0:font typeface="Plus Jakarta Sans"/>
      <ns0:bold ns1:id="rIdFont52"/>
      <ns0:regular ns1:id="rIdFont5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34" Type="http://schemas.openxmlformats.org/officeDocument/2006/relationships/slide" Target="slides/slide28.xml" /><ns0:Relationship Id="rId35" Type="http://schemas.openxmlformats.org/officeDocument/2006/relationships/slide" Target="slides/slide29.xml" /><ns0:Relationship Id="rId36" Type="http://schemas.openxmlformats.org/officeDocument/2006/relationships/slide" Target="slides/slide30.xml" /><ns0:Relationship Id="rId37" Type="http://schemas.openxmlformats.org/officeDocument/2006/relationships/slide" Target="slides/slide31.xml" /><ns0:Relationship Id="rId38" Type="http://schemas.openxmlformats.org/officeDocument/2006/relationships/slide" Target="slides/slide32.xml" /><ns0:Relationship Id="rId39" Type="http://schemas.openxmlformats.org/officeDocument/2006/relationships/slide" Target="slides/slide33.xml" /><ns0:Relationship Id="rId40" Type="http://schemas.openxmlformats.org/officeDocument/2006/relationships/slide" Target="slides/slide34.xml" /><ns0:Relationship Id="rId41" Type="http://schemas.openxmlformats.org/officeDocument/2006/relationships/slide" Target="slides/slide35.xml" /><ns0:Relationship Id="rId42" Type="http://schemas.openxmlformats.org/officeDocument/2006/relationships/slide" Target="slides/slide36.xml" /><ns0:Relationship Id="rId43" Type="http://schemas.openxmlformats.org/officeDocument/2006/relationships/slide" Target="slides/slide37.xml" /><ns0:Relationship Id="rId44" Type="http://schemas.openxmlformats.org/officeDocument/2006/relationships/slide" Target="slides/slide38.xml" /><ns0:Relationship Id="rId45" Type="http://schemas.openxmlformats.org/officeDocument/2006/relationships/slide" Target="slides/slide39.xml" /><ns0:Relationship Id="rId46" Type="http://schemas.openxmlformats.org/officeDocument/2006/relationships/slide" Target="slides/slide40.xml" /><ns0:Relationship Id="rId47" Type="http://schemas.openxmlformats.org/officeDocument/2006/relationships/slide" Target="slides/slide41.xml" /><ns0:Relationship Id="rId48" Type="http://schemas.openxmlformats.org/officeDocument/2006/relationships/slide" Target="slides/slide42.xml" /><ns0:Relationship Id="rId49" Type="http://schemas.openxmlformats.org/officeDocument/2006/relationships/slide" Target="slides/slide43.xml" /><ns0:Relationship Id="rId50" Type="http://schemas.openxmlformats.org/officeDocument/2006/relationships/slide" Target="slides/slide44.xml" /><ns0:Relationship Id="rId51" Type="http://schemas.openxmlformats.org/officeDocument/2006/relationships/slide" Target="slides/slide45.xml" /><ns0:Relationship Id="rIdFont52" Type="http://schemas.openxmlformats.org/officeDocument/2006/relationships/font" Target="fonts/87bef36f-3154-403b-a690-5f1fec803935.fntdata" /><ns0:Relationship Id="rIdFont53" Type="http://schemas.openxmlformats.org/officeDocument/2006/relationships/font" Target="fonts/ce6e3599-d058-4a1f-9260-ea76808079c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9000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29891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INFRASTRUKTUR MODERN &amp; CLOUD 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82316"/>
            <a:ext cx="9101137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Arsitektur Container &amp; Orkestrasi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99458"/>
            <a:ext cx="83343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Evolusi Pengelolaan Aplikasi dari Docker Engine hingga Kluster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77405"/>
            <a:ext cx="3454449" cy="217170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448817"/>
            <a:ext cx="3454449" cy="2428875"/>
          </a:xfrm>
          <a:prstGeom prst="roundRect">
            <a:avLst>
              <a:gd name="adj" fmla="val 62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448817"/>
            <a:ext cx="3454449" cy="2428875"/>
          </a:xfrm>
          <a:prstGeom prst="roundRect">
            <a:avLst>
              <a:gd name="adj" fmla="val 62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289173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83174" y="276314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42424" y="276314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AGENDA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Cakupan Materi Pembelajaran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89173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539430"/>
            <a:ext cx="370886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Arsitektur Container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920430"/>
            <a:ext cx="292104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Mekanisme internal Docker Engine dan isolasi kernel Linux.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0299" y="276314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3174" y="3410842"/>
            <a:ext cx="370886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Container vs VM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3174" y="3791842"/>
            <a:ext cx="29210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Perbandingan mendalam performa, efisiensi, dan keterbatasan.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9549" y="276314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2424" y="3410842"/>
            <a:ext cx="370886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Pengantar Orkestrasi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2424" y="3791842"/>
            <a:ext cx="29210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Arsitektur kluster Kubernetes dan Docker Swarm secara komprehensif.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357437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BAGIAN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09862"/>
            <a:ext cx="8101012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Plus Jakarta Sans"/>
              </a:rPr>
              <a:t>Arsitektur Container &amp; Docker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024312"/>
            <a:ext cx="5810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Memahami fondasi virtualisasi tingkat OS dan komponen daemon Docker.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90800"/>
            <a:ext cx="3454449" cy="2144910"/>
          </a:xfrm>
          <a:prstGeom prst="roundRect">
            <a:avLst>
              <a:gd name="adj" fmla="val 71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590800"/>
            <a:ext cx="3454449" cy="2144910"/>
          </a:xfrm>
          <a:prstGeom prst="roundRect">
            <a:avLst>
              <a:gd name="adj" fmla="val 71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727870"/>
            <a:ext cx="3454449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01 • KONSEP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Apa itu Container?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905125"/>
            <a:ext cx="370886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Unit Eksekusi Terisolasi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324225"/>
            <a:ext cx="2921049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Menjalankan aplikasi beserta seluruh dependensinya dalam lingkungan yang terisolasi di atas kernel host bersama.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3174" y="2905125"/>
            <a:ext cx="370886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Portabilitas Mutlak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3174" y="3324225"/>
            <a:ext cx="2921049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Menjamin konsistensi perilaku aplikasi dari lingkungan development, testing, hingga production.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2424" y="3042195"/>
            <a:ext cx="370886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Efisiensi Sumber Daya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2424" y="3461295"/>
            <a:ext cx="2921049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Berbagi kernel sistem operasi host tanpa overhead hypervisor atau sistem operasi tamu terpisah.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505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2505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2505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01 • 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Evolusi Deployment Aplikasi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10128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Traditional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5370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Aplikasi berjalan langsung pada hardware fisik. Konflik dependensi antar aplikasi sering terjadi.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10128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Virtualized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45370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Hypervisor menjalankan beberapa VM di atas hardware fisik dengan OS tamu tersendiri.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101280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Container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45370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Container berbagi kernel host, sangat ringan, cepat dibuat, dan sangat efisien.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7455"/>
            <a:ext cx="2600325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977455"/>
            <a:ext cx="2600325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77467"/>
            <a:ext cx="2600325" cy="1171575"/>
          </a:xfrm>
          <a:prstGeom prst="roundRect">
            <a:avLst>
              <a:gd name="adj" fmla="val 130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977455"/>
            <a:ext cx="2600325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01 • KERNEL PRIMITIVES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Linux Namespaces (Isolasi Pandangan)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21558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PID Namespace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51085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Isolasi ID proses; container memiliki proses init sendiri (PID 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8550" y="321558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NET Namespace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51085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Isolasi antarmuka jaringan, port, dan tabel routing mandiri.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331559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MNT Namespace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3610867"/>
            <a:ext cx="22193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Isolasi titik mount filesystem dan struktur direktori root.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0200" y="321558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IPC &amp; UTS Namespace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0" y="351085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Isolasi komunikasi antar proses dan hostname/domain sistem.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01 • KERNEL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Linux Control Groups (cgroups)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4219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Manajemen Alokasi Sumber Daya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cgroups mengatur pembatasan dan akuntansi penggunaan CPU, memori, I/O disk, dan bandwidth jaringan untuk setiap grup proses.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04219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Cegah Resource Starvation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Memastikan satu container yang mengalami lonjakan beban kerja tidak menghabiskan seluruh sumber daya server host.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4941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01 • STORAGE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Union File System (UnionFS)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266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Sistem Layer Berbasis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366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Menggabungkan beberapa direktori (layer) menjadi satu kesatuan filesystem transparan yang efisien.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04219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Read-Only &amp; Read-Write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Base image bersifat read-only dan dibagikan antar container, sementara container menambahkan satu layer writable tipis.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505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96467"/>
            <a:ext cx="3505200" cy="1933575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2505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01 • DOCKER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Arsitektur Docker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10128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Docker Client (CLI)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5370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Antarmuka baris perintah (`docker run`, `build`, `push`) tempat pengguna mengirimkan perintah.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2972692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Docker Daemon (dockerd)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325117"/>
            <a:ext cx="30480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Layanan background yang mengelola objek Docker seperti image, container, network, dan volume.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101280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Docker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45370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Repositori pusat (seperti Docker Hub) tempat menyimpan dan mendistribusikan container image.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01 • DOCKER INTERNALS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Peran containerd &amp; runc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4219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containerd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Runtime tingkat lanjut yang mengelola siklus hidup container secara keseluruhan (transfer image, eksekusi, penyimpanan).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04219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runc (OCI Runtime)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Runtime tingkat bawah yang berinteraksi langsung dengan kernel Linux untuk membuat container berdasarkan spesifikasi OCI.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7467"/>
            <a:ext cx="260032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77467"/>
            <a:ext cx="260032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977455"/>
            <a:ext cx="2600325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77467"/>
            <a:ext cx="260032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01 • SIKLUS HIDUP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Siklus Hidup Container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31559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Created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10867"/>
            <a:ext cx="22193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Container telah dibuat namun belum dieksekusi.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8550" y="331559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Running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610867"/>
            <a:ext cx="22193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Proses utama aplikasi sedang berjalan aktif.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321558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351085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Proses dalam container dihentikan sementara (frozen).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0200" y="331559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Stopped / Dead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0" y="3610867"/>
            <a:ext cx="22193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Proses telah berhenti dan sumber daya dikembalikan.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01 • IMAGE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Dockerfile &amp; Build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Deklarasi Konfigurasi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Dockerfile berisi instruksi teks terstruktur untuk menyusun image langkah demi langkah secara deterministik.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Sistem Caching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Docker mendaur ulang layer cache yang tidak berubah untuk mempercepat proses build secara signifikan.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505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96467"/>
            <a:ext cx="3505200" cy="1933575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2505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01 • STORAGE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Driver Penyimpanan (Storage Driver)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10128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Overlay2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5370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Driver standar modern yang sangat efisien untuk manajemen layer read-write dan read-only.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2972692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Aufs &amp; Btrfs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325117"/>
            <a:ext cx="30480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Driver alternatif historis yang menyediakan dukungan filesystem tingkat lanjut dengan karakteristik spesifik.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101280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Volume &amp; Bind 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45370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Mekanisme persistensi data di luar siklus hidup container untuk penyimpanan data terstruktur.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7467"/>
            <a:ext cx="260032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977455"/>
            <a:ext cx="2600325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977455"/>
            <a:ext cx="2600325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77467"/>
            <a:ext cx="260032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01 •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Driver Jaringan Docker (Networking)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31559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10867"/>
            <a:ext cx="22193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Jaringan default untuk container dalam satu host.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8550" y="321558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51085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Menghapus isolasi jaringan; container langsung pakai IP host.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321558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Overlay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351085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Menghubungkan container lintas host fisik (Swarm mode).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0200" y="331559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0" y="3610867"/>
            <a:ext cx="22193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Isolasi total tanpa akses jaringan eksternal.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4941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01 • 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Rangkuman Arsitektur Container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4219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Sinergi Kernel Linux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Container sepenuhnya bergantung pada fitur kernel (Namespaces dan cgroups) untuk menciptakan batas isolasi yang efisien.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266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Ekosistem Standar OCI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366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Standardisasi format image dan runtime memastikan interoperabilitas tinggi di berbagai platform infrastruktur.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357437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BAGIAN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09862"/>
            <a:ext cx="8101012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Plus Jakarta Sans"/>
              </a:rPr>
              <a:t>Kelebihan &amp; Keterbatasan: Container vs 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024312"/>
            <a:ext cx="5810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Analisis komparatif mendalam antara virtualisasi berbasis OS dan hardware.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4941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02 • PERBANDINGAN ARSITEKTUR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Virtual Machine vs Container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266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Virtual Machine (VM)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366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Meniru perangkat keras fisik utuh, memerlukan hypervisor (Type 1/2) dan OS tamu mandiri di setiap instance.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04219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Virtualisasi tingkat sistem operasi; berbagi kernel host dan mengisolasi proses menggunakan mekanisme namespace.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02 • EFISIENSI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Perbandingan Resource Footprint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Virtual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Membutuhkan alokasi RAM dan disk yang besar (GBs) karena menyertakan keseluruhan OS tamu.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Berukuran sangat kecil (MBs), hanya membungkus aplikasi dan dependensi spesifik runtime.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02 • PERFORMA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Kecepatan Booting &amp; Inisialisasi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Virtual Machine (Menit)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Proses booting memakan waktu karena harus memuat kernel OS tamu dan inisialisasi layanan sistem.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Container (Milidetik)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Berjalan seketika karena hanya mengeksekusi proses aplikasi tanpa proses booting kernel baru.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4941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02 • ASPEK KEAMANAN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Tingkat Isolasi dan Keamanan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266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Virtual Machine (Tinggi)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366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Menyediakan batas isolasi berbasis hardware melalui hypervisor; pembobolan kernel sangat sulit terjadi.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04219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Container (Menengah)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Berbagi kernel host yang sama; kerentanan kernel (kernel exploit) dapat membahayakan seluruh container lain di host.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4941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02 • PORTABILITAS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Portabilitas &amp; Kompatibilitas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4219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Keterbatasan Kernel 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Container Linux hanya dapat berjalan di atas host kernel Linux. Menjalankan container Windows memerlukan host Windows.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266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Fleksibilitas 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366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VM Windows dapat dijalankan di atas hypervisor Linux dan sebaliknya tanpa kendala arsitektur kernel.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4941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02 •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Panduan Pemilihan: Container vs 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4219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Pilih Container untuk: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Arsitektur microservices, aplikasi cloud-native, CI/CD pipeline yang cepat, dan efisiensi kepadatan server yang tinggi.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266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Pilih Virtual Machine untuk: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366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Beban kerja monolitik berat, isolasi multi-tenant yang ketat, dan aplikasi yang membutuhkan OS tamu berbeda.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02 • BEST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Arsitektur Hibrida: Container di dalam 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Standar Industri Modern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Sebagian besar kluster Kubernetes berjalan di atas Virtual Machine cloud (AWS EC2, GCP Compute Engine).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Kombinasi Keunggulan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Mendapatkan kemudahan manajemen infrastruktur VM dari cloud provider sekaligus kelincahan aplikasi container.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02 • 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Rangkuman Komparasi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Bukan Saling Menggantikan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Container dan VM melayani kebutuhan lapisan virtualisasi yang berbeda dalam arsitektur sistem skala enterprise.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Fokus pada Agilitas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Container unggul dalam kecepatan pengembangan, sementara VM unggul dalam batas isolasi mutlak.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357437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BAGIAN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09862"/>
            <a:ext cx="8101012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Plus Jakarta Sans"/>
              </a:rPr>
              <a:t>Pengantar Orkestrasi: Kubernetes &amp; Swarm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024312"/>
            <a:ext cx="5810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Arsitektur pengelolaan kluster container skala besar secara otomatis.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4941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KONSEP DASAR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Mengapa Membutuhkan Orkestrasi?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266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Kompleksitas Skala Besar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366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Mengelola ratusan hingga ribuan container di berbagai server fisik tidak mungkin dilakukan secara manual.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04219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Otomatisasi Penuh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Orkestrator menangani penjadwalan, penskalaan otomatis (autoscaling), pemulihan mandiri (self-healing), dan load balancing.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7455"/>
            <a:ext cx="2600325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977455"/>
            <a:ext cx="2600325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977455"/>
            <a:ext cx="2600325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77467"/>
            <a:ext cx="260032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CORE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Fitur Utama Sistem Orkestrasi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21558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51085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Penempatan container ke node optimal berdasarkan sumber daya.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8550" y="321558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Auto-scaling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51085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Penambahan atau pengurangan replika otomatis sesuai beban.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321558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Self-Healing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351085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Restart otomatis container yang gagal atau node yang mati.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0200" y="331559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Service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0" y="3610867"/>
            <a:ext cx="22193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Manajemen komunikasi antar layanan via DNS internal.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KUBERNETES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Arsitektur Kubernetes: Control Plane &amp;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Control Plane (Master)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Pusat kendali kluster yang mengambil keputusan global, mendeteksi peristiwa, dan mengatur penjadwalan.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Worker 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Server fisik atau virtual yang menjalankan beban kerja aplikasi nyata di dalam container.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Kubernetes API Server (kube-apiserver)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Pintu Gerbang Utama Kluster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Menyediakan antarmuka REST API untuk seluruh interaksi manajemen kluster (kubectl, controller, worker nodes).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Validasi &amp; Autentikasi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Memproses autentikasi pengguna, otorisasi akses, serta validasi data objek konfigurasi sebelum disimpan.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etcd (Distributed Key-Value Store)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Sumber Kebenaran (Source of Truth)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Menyimpan seluruh data status kluster, konfigurasi objek, dan metadata Kubernetes secara konsisten dan aman.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Konsistensi Raft Consensus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Menggunakan algoritma Raft untuk memastikan replikasi data yang handal di beberapa node control plane.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Kube-Scheduler &amp; Controller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4219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kube-scheduler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Menentukan node terbaik untuk menempatkan pod baru berdasarkan ketersediaan sumber daya dan kebijakan penempatan.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04219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kube-controller-manager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Menjalankan loop kontrol (Node Controller, Replication Controller) untuk menyamakan status aktual dengan status yang diinginkan.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WORKER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Kubelet &amp; Kube-Proxy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4219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Kubelet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Agen yang berjalan di setiap worker node, memastikan pod dan container berjalan sesuai spesifikasi yang diberikan.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04219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Kube-Proxy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Mengelola aturan jaringan di setiap node untuk memfasilitasi komunikasi jaringan internal dan eksternal ke pod.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KUBERNETES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Konsep Pod (Unit Terkecil Kubernetes)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4219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Satu atau Lebih 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Pod adalah objek terkecil di Kubernetes yang membungkus satu atau lebih container dengan storage dan namespace jaringan bersama.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04219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Shared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Container dalam satu pod berbagi alamat IP dan port yang sama serta dapat mengakses volume penyimpanan bersama.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Deployment &amp; ReplicaSet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Menyediakan pembaruan deklaratif (declarative updates) untuk pod dan ReplicaSet dengan rollback otomatis.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ReplicaSet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Memastikan jumlah replika pod yang berjalan selalu konsisten dengan jumlah yang ditentukan.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NETWORKING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Service &amp; Ingress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Kubernetes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Abstraksi yang mendefinisikan sekumpulan pod dan kebijakan akses (ClusterIP, NodePort, LoadBalancer).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Ingress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Mengelola akses HTTP/HTTPS eksternal ke dalam kluster dengan perutean berbasis jalur URL dan SSL termination.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ADVANCED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StatefulSet &amp; DaemonSet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StatefulSet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Mengelola aplikasi stateful (database) yang memerlukan identitas unik dan penyimpanan persisten yang stabil.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DaemonSet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Memastikan satu salinan pod berjalan pada setiap node di dalam kluster (digunakan untuk log collector, monitoring).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4941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DOCKER SWARM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Arsitektur Docker 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4219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Orkestrasi Bawaan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Alat orkestrasi asli yang terintegrasi langsung dalam Docker Engine tanpa memerlukan instalasi tambahan yang rumit.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266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Manager &amp; Worker 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366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Menggunakan arsitektur node Manager untuk koordinasi kluster dan Worker untuk eksekusi tugas.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4941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KOMPARASI ORKESTRATOR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Kubernetes vs Docker 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4219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Docker Swarm (Sederhana)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Sangat mudah diatur dan dipelajari; ideal untuk proyek berskala kecil hingga menengah dengan kurva belajar minimal.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266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Kubernetes (Kompleks &amp; Kuat)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366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Standar industri dengan ekosistem luas, fitur canggih, skalabilitas masif, namun memiliki kurva belajar yang tinggi.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DESAIN PRINSIP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Pendekatan Deklaratif (Declarative Model)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Desired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Pengguna mendefinisikan kondisi akhir yang diinginkan (YAML), dan sistem otomatis menyesuaikan kondisi aktual.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Rekonsiliasi Berkelanjutan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Kontroler kluster secara terus-menerus memantau dan memperbaiki perbedaan antara status aktual dan deklarasi.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CLUSTER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RBAC (Role-Based Access Control)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Kontrol Akses Granular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Mengatur hak akses pengguna dan service account terhadap sumber daya kluster berdasarkan peran spesifik.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Prinsip Hak Akses Minimum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Memastikan setiap entitas hanya memiliki akses yang benar-benar dibutuhkan untuk menjalankan tugasnya.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STORAGE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PV, PVC, &amp; StorageClass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PersistentVolume (PV)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Sumber daya penyimpanan fisik di kluster yang disediakan oleh administrator atau secara dinamis.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PersistentVolumeClaim (PVC)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Permintaan penyimpanan oleh pengguna atau aplikasi untuk diikat ke PersistentVolume yang sesuai.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4941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27870"/>
            <a:ext cx="5334000" cy="1870620"/>
          </a:xfrm>
          <a:prstGeom prst="roundRect">
            <a:avLst>
              <a:gd name="adj" fmla="val 81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Monitoring &amp; Observability Kluster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266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Metrik, Log, &amp; Tracing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366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Tiga pilar observabilitas untuk memantau kesehatan kluster menggunakan alat seperti Prometheus dan Grafana.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04219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Proactive Health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461295"/>
            <a:ext cx="48006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Liveness probe dan readiness probe mendeteksi kegagalan aplikasi secara real-time untuk pemulihan otomatis.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65090"/>
            <a:ext cx="5334000" cy="1596330"/>
          </a:xfrm>
          <a:prstGeom prst="roundRect">
            <a:avLst>
              <a:gd name="adj" fmla="val 9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 • KESIMPULAN ORKESTRASI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Manfaat Utama Adopsi Orkestrasi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941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Skalabilitas &amp; Resiliensi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Aplikasi mampu menangani lonjakan beban ekstrem secara otomatis dengan ketersediaan tinggi (High Availability).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7941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Efisiensi Infrastruktur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98515"/>
            <a:ext cx="4800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Memaksimalkan utilisasi perangkat keras fisik server melalui penempatan container yang optimal dan padat.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505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2505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96467"/>
            <a:ext cx="3505200" cy="1933575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RINGKASAN AKHIR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Kesimpulan Materi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10128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 Arsitektur Container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5370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Memanfaatkan kernel Linux namespaces dan cgroups untuk isolasi ringan dan portabel.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10128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2. Container vs 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45370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Container unggul dalam kecepatan dan efisiensi, sementara VM unggul dalam batas isolasi mutlak.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2972692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3. Orkestrasi Kluster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325117"/>
            <a:ext cx="30480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Kubernetes dan Swarm mengotomatiskan pengelolaan beban kerja skala besar secara handal.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91200" y="42862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63765" y="2533650"/>
            <a:ext cx="1464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Plus Jakarta Sans"/>
              </a:rPr>
              <a:t>SESI DISKUSI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4483" y="2886075"/>
            <a:ext cx="4263032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lus Jakarta Sans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3640" y="3743325"/>
            <a:ext cx="346471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Pertanyaan dan Diskusi Terbuka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